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61" r:id="rId3"/>
    <p:sldId id="274" r:id="rId4"/>
    <p:sldId id="271" r:id="rId5"/>
    <p:sldId id="275" r:id="rId6"/>
    <p:sldId id="272" r:id="rId7"/>
    <p:sldId id="276" r:id="rId8"/>
    <p:sldId id="286" r:id="rId9"/>
    <p:sldId id="273" r:id="rId10"/>
    <p:sldId id="267" r:id="rId11"/>
    <p:sldId id="268" r:id="rId12"/>
    <p:sldId id="269" r:id="rId13"/>
    <p:sldId id="277" r:id="rId14"/>
    <p:sldId id="270" r:id="rId15"/>
    <p:sldId id="263" r:id="rId16"/>
    <p:sldId id="281" r:id="rId17"/>
    <p:sldId id="284" r:id="rId18"/>
    <p:sldId id="279" r:id="rId19"/>
    <p:sldId id="282" r:id="rId20"/>
    <p:sldId id="285" r:id="rId21"/>
    <p:sldId id="265" r:id="rId22"/>
    <p:sldId id="266" r:id="rId23"/>
    <p:sldId id="260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B2275F"/>
    <a:srgbClr val="0B1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3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8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2D6C-34A4-4BA0-B2C2-3DC0CF12E45A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F96FF-D4FA-4B60-9B9A-93405F631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69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F6C14-2F96-A92F-079A-BB8FA9E27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952F58-CF23-E81F-5B50-19D52820E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C72F43-C6CB-5B3C-1637-A67B7B9B2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6762D-6811-4BB2-9D49-550CD0570808}" type="datetime1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0C9658-E86A-B291-71B9-8A5B7145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23D137-E6CF-6AF7-2126-534E5D1D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667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AD3E0-4762-1319-A228-125F1CDB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56FB30-4D34-43A2-0181-A7B5D86E4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6DD9A6-B597-CF50-59EA-BD7CF086E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66EC-5D10-4FD9-A515-018C01450EC1}" type="datetime1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645DD9-5730-6F13-E70A-FF2ADEDE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CD6411-1F25-E540-B777-9F123F3C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423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D9A0C-FE9F-7627-31F4-80DE6149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CDADDC-7B5A-FCF0-2FB4-953E1C913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EB9C88-D3DB-1802-3EBA-558C8DA8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60BA-7F90-4301-99D4-1BB11C169BFF}" type="datetime1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8C879E-E87E-4A77-F6C0-6A843788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B5BF97-67B1-2D2A-658C-B386D331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1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5E611-5EDC-5D2E-3FFA-1349D9A8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A689B1-63DD-1907-1135-321942D76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153DB1-0F14-DD43-6413-5C8237741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8A7CCE-8CF9-374B-0659-D9105396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DC45-269A-4AAE-9D86-3459615F9909}" type="datetime1">
              <a:rPr lang="pt-BR" smtClean="0"/>
              <a:t>04/01/2026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CE59D-3CE1-DC2E-33AD-0E0317FE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41FB33-5DA8-17FF-5F5D-E8C66A44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02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83446-7D99-9803-2EB8-91FC5863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9EE9AD-B41C-C9DC-E471-F2A9FD639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F9E0B3-6919-19C6-7BBB-71947B81D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81A880-C28A-AD42-9C49-CC7F3461D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13D445-2756-45DF-3B7A-A39003D75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ADAF53-D1D4-BEE4-4310-758D3DEC1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38A9-E185-44C2-93C7-4F011148169F}" type="datetime1">
              <a:rPr lang="pt-BR" smtClean="0"/>
              <a:t>04/01/2026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D81C0A-FFD8-0E10-AE9A-16B8E203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8B20090-DBD2-294E-D789-77542766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3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50378-4CFA-4878-FD7B-2746BD1B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D6611A-1B99-FC1C-FC1C-5989362A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F99-3A11-4877-8B0B-CFCBC3D55B2D}" type="datetime1">
              <a:rPr lang="pt-BR" smtClean="0"/>
              <a:t>04/01/2026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38FEEB-7338-13D1-06CB-DE0BFC24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E77032D-2B59-F5E5-25EC-FBBB768E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94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DAFB47-8B65-70BD-2637-DAF3A976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7492-02C4-4700-89ED-14A50BB952AC}" type="datetime1">
              <a:rPr lang="pt-BR" smtClean="0"/>
              <a:t>04/01/2026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8C04F2-2FF6-B87E-6BF1-25519F02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5AEF08-5ACE-F6E4-3CDB-595AE21A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52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D4892-032B-6586-D72E-C7A357DDA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6B40A0-4477-61FC-FD8E-6F8379523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2C5B4A-2483-24E0-8E7C-961A3CC47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26EEBF-B553-50E3-3A58-33A41A8E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6727-F9B1-4CAA-8FC3-8BD5E89E9546}" type="datetime1">
              <a:rPr lang="pt-BR" smtClean="0"/>
              <a:t>04/01/2026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AC068B-F441-9318-DD02-4E189EEA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DB9587-239E-2607-5EE6-2606F675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38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42DC3-FBBC-ADA4-79B4-B481939A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3AA831-A1C5-B1D8-F93D-EAE568FE6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19FC4E-3395-B4AA-F893-09CBA16EE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DBA731-80AA-C805-DFD3-9853A751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1565-6B3B-4F50-AF6B-AD72230277E2}" type="datetime1">
              <a:rPr lang="pt-BR" smtClean="0"/>
              <a:t>04/01/2026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FE3A36-0B63-CB73-6EFD-AE2A8E59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065441-507C-9C99-09DA-E77F4C57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396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6E4A7-D954-1CBA-A49B-B4FDB09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1B4570-CD5C-156B-D201-0F77A7779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9286C4-80C9-D958-BF0C-339A604D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C9CE-8AF0-40D9-884D-95B51A1B171E}" type="datetime1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F10385-BF47-E065-108A-189EF348A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3E0BE8-E013-FFED-698B-DC176A4C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25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C0CA57-C62B-7AD6-4F3D-67537A513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F82AF5-1AAA-97B0-B86A-5F7E98614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F03D3B-AC38-D418-2291-CEBB5455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DB871-36EF-451F-ABB9-D429ADD61443}" type="datetime1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B7A9A3-D2D5-86B6-C472-757DE31C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7105C-534E-8B73-DA45-EE07591B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0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B2832F-708D-8446-1B0A-96D71B4D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5B8F7E-67C3-9FD7-BA17-4CA883058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C5E8C6-D3B4-15CB-EAA6-B027A49AD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9BC38-FF49-4D3F-AC8F-6A99313B5ABA}" type="datetime1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878E73-0A5D-65F3-94A4-88F3ABF95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B5A0CA-4A6F-6961-25AD-26E57CDFE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07A48-E00E-428D-BFD4-5F1E9D8E4E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96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8tpSG6Q2H0" TargetMode="External"/><Relationship Id="rId2" Type="http://schemas.openxmlformats.org/officeDocument/2006/relationships/hyperlink" Target="https://www.youtube.com/watch?v=z3ZnOW-S550&amp;t=974s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0"/>
            <a:ext cx="12192000" cy="4555958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593557" y="2097505"/>
            <a:ext cx="7083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IHM Stefanini Case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012AD0-5B39-5599-DAF1-A357C58991EE}"/>
              </a:ext>
            </a:extLst>
          </p:cNvPr>
          <p:cNvSpPr txBox="1"/>
          <p:nvPr/>
        </p:nvSpPr>
        <p:spPr>
          <a:xfrm>
            <a:off x="3834061" y="4656675"/>
            <a:ext cx="826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latin typeface="Century Gothic" panose="020B0502020202020204" pitchFamily="34" charset="0"/>
              </a:rPr>
              <a:t>Paulo Casmal, </a:t>
            </a:r>
            <a:r>
              <a:rPr lang="pt-BR" i="1" dirty="0">
                <a:latin typeface="Century Gothic" panose="020B0502020202020204" pitchFamily="34" charset="0"/>
              </a:rPr>
              <a:t>Data </a:t>
            </a:r>
            <a:r>
              <a:rPr lang="pt-BR" i="1" dirty="0" err="1">
                <a:latin typeface="Century Gothic" panose="020B0502020202020204" pitchFamily="34" charset="0"/>
              </a:rPr>
              <a:t>Scientist</a:t>
            </a:r>
            <a:endParaRPr lang="pt-BR" i="1" dirty="0">
              <a:latin typeface="Century Gothic" panose="020B0502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670704-D72D-A073-30ED-24A06860C6BE}"/>
              </a:ext>
            </a:extLst>
          </p:cNvPr>
          <p:cNvSpPr txBox="1"/>
          <p:nvPr/>
        </p:nvSpPr>
        <p:spPr>
          <a:xfrm>
            <a:off x="593557" y="2911232"/>
            <a:ext cx="7083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Mining </a:t>
            </a:r>
            <a:r>
              <a:rPr lang="pt-BR" sz="32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Study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097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Agenda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012AD0-5B39-5599-DAF1-A357C58991EE}"/>
              </a:ext>
            </a:extLst>
          </p:cNvPr>
          <p:cNvSpPr txBox="1"/>
          <p:nvPr/>
        </p:nvSpPr>
        <p:spPr>
          <a:xfrm>
            <a:off x="786388" y="1735375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01 </a:t>
            </a:r>
            <a:r>
              <a:rPr lang="pt-BR" dirty="0" err="1">
                <a:latin typeface="Century Gothic" panose="020B0502020202020204" pitchFamily="34" charset="0"/>
              </a:rPr>
              <a:t>Introduction</a:t>
            </a:r>
            <a:endParaRPr lang="pt-BR" i="1" dirty="0">
              <a:latin typeface="Century Gothic" panose="020B0502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6DE4DB-C2AE-1E84-6505-4C9FA00E10D9}"/>
              </a:ext>
            </a:extLst>
          </p:cNvPr>
          <p:cNvSpPr/>
          <p:nvPr/>
        </p:nvSpPr>
        <p:spPr>
          <a:xfrm>
            <a:off x="0" y="210470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9ED4B2-76FA-BFEF-2875-742F449B2822}"/>
              </a:ext>
            </a:extLst>
          </p:cNvPr>
          <p:cNvSpPr txBox="1"/>
          <p:nvPr/>
        </p:nvSpPr>
        <p:spPr>
          <a:xfrm>
            <a:off x="786388" y="2509706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02 </a:t>
            </a:r>
            <a:r>
              <a:rPr lang="pt-BR" dirty="0" err="1">
                <a:latin typeface="Century Gothic" panose="020B0502020202020204" pitchFamily="34" charset="0"/>
              </a:rPr>
              <a:t>Literature</a:t>
            </a:r>
            <a:r>
              <a:rPr lang="pt-BR" dirty="0">
                <a:latin typeface="Century Gothic" panose="020B0502020202020204" pitchFamily="34" charset="0"/>
              </a:rPr>
              <a:t> Review</a:t>
            </a:r>
            <a:endParaRPr lang="pt-BR" i="1" dirty="0">
              <a:latin typeface="Century Gothic" panose="020B0502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9A752D-18AA-AB5D-274D-A064C6D55636}"/>
              </a:ext>
            </a:extLst>
          </p:cNvPr>
          <p:cNvSpPr txBox="1"/>
          <p:nvPr/>
        </p:nvSpPr>
        <p:spPr>
          <a:xfrm>
            <a:off x="786388" y="3284037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03 </a:t>
            </a:r>
            <a:r>
              <a:rPr lang="pt-BR" dirty="0" err="1">
                <a:latin typeface="Century Gothic" panose="020B0502020202020204" pitchFamily="34" charset="0"/>
              </a:rPr>
              <a:t>Exploratory</a:t>
            </a:r>
            <a:r>
              <a:rPr lang="pt-BR" dirty="0">
                <a:latin typeface="Century Gothic" panose="020B0502020202020204" pitchFamily="34" charset="0"/>
              </a:rPr>
              <a:t> Data </a:t>
            </a:r>
            <a:r>
              <a:rPr lang="pt-BR" dirty="0" err="1">
                <a:latin typeface="Century Gothic" panose="020B0502020202020204" pitchFamily="34" charset="0"/>
              </a:rPr>
              <a:t>Analysis</a:t>
            </a:r>
            <a:endParaRPr lang="pt-BR" i="1" dirty="0">
              <a:latin typeface="Century Gothic" panose="020B0502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BC8A3F-1097-AC17-36F2-2902AE9886AE}"/>
              </a:ext>
            </a:extLst>
          </p:cNvPr>
          <p:cNvSpPr txBox="1"/>
          <p:nvPr/>
        </p:nvSpPr>
        <p:spPr>
          <a:xfrm>
            <a:off x="786388" y="4058368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04 </a:t>
            </a:r>
            <a:r>
              <a:rPr lang="pt-BR" dirty="0" err="1">
                <a:latin typeface="Century Gothic" panose="020B0502020202020204" pitchFamily="34" charset="0"/>
              </a:rPr>
              <a:t>Results</a:t>
            </a:r>
            <a:endParaRPr lang="pt-BR" i="1" dirty="0">
              <a:latin typeface="Century Gothic" panose="020B050202020202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6F9C2C-CF5C-7F58-34BA-12DBCB49AEC8}"/>
              </a:ext>
            </a:extLst>
          </p:cNvPr>
          <p:cNvSpPr/>
          <p:nvPr/>
        </p:nvSpPr>
        <p:spPr>
          <a:xfrm>
            <a:off x="0" y="2882371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5EFA8B4-D3E5-1A64-FF89-B3B354F17B0D}"/>
              </a:ext>
            </a:extLst>
          </p:cNvPr>
          <p:cNvSpPr/>
          <p:nvPr/>
        </p:nvSpPr>
        <p:spPr>
          <a:xfrm>
            <a:off x="0" y="36600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FFEE37-9BFE-3A8A-6E98-B41475AC1300}"/>
              </a:ext>
            </a:extLst>
          </p:cNvPr>
          <p:cNvSpPr/>
          <p:nvPr/>
        </p:nvSpPr>
        <p:spPr>
          <a:xfrm>
            <a:off x="0" y="4458742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0046D-9C92-4C70-C6D1-63791C0D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2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B046599-4D05-CF7B-E2BC-822B0997D96A}"/>
              </a:ext>
            </a:extLst>
          </p:cNvPr>
          <p:cNvSpPr/>
          <p:nvPr/>
        </p:nvSpPr>
        <p:spPr>
          <a:xfrm>
            <a:off x="0" y="52616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ABBABF8-9077-FF14-4EC7-213D715EFDFE}"/>
              </a:ext>
            </a:extLst>
          </p:cNvPr>
          <p:cNvSpPr txBox="1"/>
          <p:nvPr/>
        </p:nvSpPr>
        <p:spPr>
          <a:xfrm>
            <a:off x="786388" y="4835732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05 Next Steps</a:t>
            </a:r>
            <a:endParaRPr lang="pt-BR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4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Agenda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012AD0-5B39-5599-DAF1-A357C58991EE}"/>
              </a:ext>
            </a:extLst>
          </p:cNvPr>
          <p:cNvSpPr txBox="1"/>
          <p:nvPr/>
        </p:nvSpPr>
        <p:spPr>
          <a:xfrm>
            <a:off x="786388" y="1735375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01 </a:t>
            </a:r>
            <a:r>
              <a:rPr lang="pt-BR" dirty="0" err="1">
                <a:latin typeface="Century Gothic" panose="020B0502020202020204" pitchFamily="34" charset="0"/>
              </a:rPr>
              <a:t>Introduction</a:t>
            </a:r>
            <a:endParaRPr lang="pt-BR" i="1" dirty="0">
              <a:latin typeface="Century Gothic" panose="020B0502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6DE4DB-C2AE-1E84-6505-4C9FA00E10D9}"/>
              </a:ext>
            </a:extLst>
          </p:cNvPr>
          <p:cNvSpPr/>
          <p:nvPr/>
        </p:nvSpPr>
        <p:spPr>
          <a:xfrm>
            <a:off x="0" y="2104706"/>
            <a:ext cx="2133600" cy="36000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9ED4B2-76FA-BFEF-2875-742F449B2822}"/>
              </a:ext>
            </a:extLst>
          </p:cNvPr>
          <p:cNvSpPr txBox="1"/>
          <p:nvPr/>
        </p:nvSpPr>
        <p:spPr>
          <a:xfrm>
            <a:off x="786388" y="2509706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02 </a:t>
            </a:r>
            <a:r>
              <a:rPr lang="pt-BR" dirty="0" err="1"/>
              <a:t>Literature</a:t>
            </a:r>
            <a:r>
              <a:rPr lang="pt-BR" dirty="0"/>
              <a:t> Review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9A752D-18AA-AB5D-274D-A064C6D55636}"/>
              </a:ext>
            </a:extLst>
          </p:cNvPr>
          <p:cNvSpPr txBox="1"/>
          <p:nvPr/>
        </p:nvSpPr>
        <p:spPr>
          <a:xfrm>
            <a:off x="786388" y="3284037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03 </a:t>
            </a:r>
            <a:r>
              <a:rPr lang="pt-BR" dirty="0" err="1"/>
              <a:t>Exploratory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BC8A3F-1097-AC17-36F2-2902AE9886AE}"/>
              </a:ext>
            </a:extLst>
          </p:cNvPr>
          <p:cNvSpPr txBox="1"/>
          <p:nvPr/>
        </p:nvSpPr>
        <p:spPr>
          <a:xfrm>
            <a:off x="786388" y="4058368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04 </a:t>
            </a:r>
            <a:r>
              <a:rPr lang="pt-BR" dirty="0" err="1"/>
              <a:t>Results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6F9C2C-CF5C-7F58-34BA-12DBCB49AEC8}"/>
              </a:ext>
            </a:extLst>
          </p:cNvPr>
          <p:cNvSpPr/>
          <p:nvPr/>
        </p:nvSpPr>
        <p:spPr>
          <a:xfrm>
            <a:off x="0" y="2882371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5EFA8B4-D3E5-1A64-FF89-B3B354F17B0D}"/>
              </a:ext>
            </a:extLst>
          </p:cNvPr>
          <p:cNvSpPr/>
          <p:nvPr/>
        </p:nvSpPr>
        <p:spPr>
          <a:xfrm>
            <a:off x="0" y="36600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FFEE37-9BFE-3A8A-6E98-B41475AC1300}"/>
              </a:ext>
            </a:extLst>
          </p:cNvPr>
          <p:cNvSpPr/>
          <p:nvPr/>
        </p:nvSpPr>
        <p:spPr>
          <a:xfrm>
            <a:off x="0" y="4458742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0046D-9C92-4C70-C6D1-63791C0D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3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203776B-9F89-EAD6-C044-2C309DD1B622}"/>
              </a:ext>
            </a:extLst>
          </p:cNvPr>
          <p:cNvSpPr/>
          <p:nvPr/>
        </p:nvSpPr>
        <p:spPr>
          <a:xfrm>
            <a:off x="0" y="52616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3DE0F82-7E45-AFCE-B444-DD0DC68F9F38}"/>
              </a:ext>
            </a:extLst>
          </p:cNvPr>
          <p:cNvSpPr txBox="1"/>
          <p:nvPr/>
        </p:nvSpPr>
        <p:spPr>
          <a:xfrm>
            <a:off x="786388" y="4835732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05 Next Steps</a:t>
            </a:r>
          </a:p>
        </p:txBody>
      </p:sp>
    </p:spTree>
    <p:extLst>
      <p:ext uri="{BB962C8B-B14F-4D97-AF65-F5344CB8AC3E}">
        <p14:creationId xmlns:p14="http://schemas.microsoft.com/office/powerpoint/2010/main" val="3969395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4</a:t>
            </a:fld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A8662B-FCA7-21C7-A621-1058109F8FD6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Introduction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7F525711-C4A4-15EF-5DE4-C4037CAA5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49" y="2115793"/>
            <a:ext cx="4791051" cy="29222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77C0C77-EF57-6840-2D4C-92242AA23059}"/>
              </a:ext>
            </a:extLst>
          </p:cNvPr>
          <p:cNvSpPr txBox="1"/>
          <p:nvPr/>
        </p:nvSpPr>
        <p:spPr>
          <a:xfrm>
            <a:off x="7477760" y="5016474"/>
            <a:ext cx="226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The </a:t>
            </a:r>
            <a:r>
              <a:rPr lang="pt-BR" dirty="0" err="1"/>
              <a:t>froth</a:t>
            </a:r>
            <a:r>
              <a:rPr lang="pt-BR" dirty="0"/>
              <a:t> </a:t>
            </a:r>
            <a:r>
              <a:rPr lang="pt-BR" dirty="0" err="1"/>
              <a:t>flotation</a:t>
            </a:r>
            <a:r>
              <a:rPr lang="pt-BR" dirty="0"/>
              <a:t> </a:t>
            </a:r>
            <a:r>
              <a:rPr lang="pt-BR" dirty="0" err="1"/>
              <a:t>process</a:t>
            </a:r>
            <a:r>
              <a:rPr lang="pt-BR" dirty="0"/>
              <a:t>. [1]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BB253D5-E1A9-D393-7E17-9D4A925D845A}"/>
              </a:ext>
            </a:extLst>
          </p:cNvPr>
          <p:cNvSpPr txBox="1"/>
          <p:nvPr/>
        </p:nvSpPr>
        <p:spPr>
          <a:xfrm>
            <a:off x="451005" y="1127597"/>
            <a:ext cx="5644995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i="0" dirty="0" err="1"/>
              <a:t>Why</a:t>
            </a:r>
            <a:r>
              <a:rPr lang="pt-BR" i="0" dirty="0"/>
              <a:t>?</a:t>
            </a:r>
          </a:p>
          <a:p>
            <a:endParaRPr lang="pt-BR" i="0" dirty="0"/>
          </a:p>
          <a:p>
            <a:pPr algn="just"/>
            <a:r>
              <a:rPr lang="en-US" sz="1800" b="0" i="0" dirty="0">
                <a:solidFill>
                  <a:schemeClr val="tx1"/>
                </a:solidFill>
              </a:rPr>
              <a:t>Laboratory data is generated on an hourly basis, which can delay feedback or even mislead operational decisions in the mining process, potentially resulting in economic and/or environmental impacts. </a:t>
            </a:r>
          </a:p>
          <a:p>
            <a:pPr algn="just"/>
            <a:endParaRPr lang="en-US" sz="1800" b="0" i="0" dirty="0">
              <a:solidFill>
                <a:schemeClr val="tx1"/>
              </a:solidFill>
            </a:endParaRPr>
          </a:p>
          <a:p>
            <a:pPr algn="just"/>
            <a:r>
              <a:rPr lang="en-US" sz="1800" b="0" i="0" dirty="0">
                <a:solidFill>
                  <a:schemeClr val="tx1"/>
                </a:solidFill>
              </a:rPr>
              <a:t>Therefore, it is crucial to monitor process changes directly in the field and in near real time. Key points to consider include:</a:t>
            </a:r>
          </a:p>
          <a:p>
            <a:pPr algn="just"/>
            <a:endParaRPr lang="en-US" sz="700" b="0" i="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</a:rPr>
              <a:t>The target variable cannot be used, as it is obtained from laboratory analysis;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</a:rPr>
              <a:t>It is essential to understand how far into the future the prediction remains useful for operational decision-making.</a:t>
            </a:r>
            <a:endParaRPr lang="pt-BR" sz="1800" b="0" i="0" dirty="0">
              <a:solidFill>
                <a:schemeClr val="tx1"/>
              </a:solidFill>
            </a:endParaRPr>
          </a:p>
          <a:p>
            <a:pPr marL="342900" indent="-342900" algn="just">
              <a:buFontTx/>
              <a:buChar char="-"/>
            </a:pPr>
            <a:endParaRPr lang="pt-BR" b="0" i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176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Agenda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012AD0-5B39-5599-DAF1-A357C58991EE}"/>
              </a:ext>
            </a:extLst>
          </p:cNvPr>
          <p:cNvSpPr txBox="1"/>
          <p:nvPr/>
        </p:nvSpPr>
        <p:spPr>
          <a:xfrm>
            <a:off x="786388" y="1735375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01 </a:t>
            </a:r>
            <a:r>
              <a:rPr lang="pt-BR" dirty="0" err="1"/>
              <a:t>Introduction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6DE4DB-C2AE-1E84-6505-4C9FA00E10D9}"/>
              </a:ext>
            </a:extLst>
          </p:cNvPr>
          <p:cNvSpPr/>
          <p:nvPr/>
        </p:nvSpPr>
        <p:spPr>
          <a:xfrm>
            <a:off x="0" y="210470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9ED4B2-76FA-BFEF-2875-742F449B2822}"/>
              </a:ext>
            </a:extLst>
          </p:cNvPr>
          <p:cNvSpPr txBox="1"/>
          <p:nvPr/>
        </p:nvSpPr>
        <p:spPr>
          <a:xfrm>
            <a:off x="786388" y="2509706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02 </a:t>
            </a:r>
            <a:r>
              <a:rPr lang="pt-BR" dirty="0" err="1"/>
              <a:t>Literature</a:t>
            </a:r>
            <a:r>
              <a:rPr lang="pt-BR" dirty="0"/>
              <a:t> Review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9A752D-18AA-AB5D-274D-A064C6D55636}"/>
              </a:ext>
            </a:extLst>
          </p:cNvPr>
          <p:cNvSpPr txBox="1"/>
          <p:nvPr/>
        </p:nvSpPr>
        <p:spPr>
          <a:xfrm>
            <a:off x="786388" y="3284037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03 </a:t>
            </a:r>
            <a:r>
              <a:rPr lang="pt-BR" dirty="0" err="1"/>
              <a:t>Exploratory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BC8A3F-1097-AC17-36F2-2902AE9886AE}"/>
              </a:ext>
            </a:extLst>
          </p:cNvPr>
          <p:cNvSpPr txBox="1"/>
          <p:nvPr/>
        </p:nvSpPr>
        <p:spPr>
          <a:xfrm>
            <a:off x="786388" y="4058368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04 </a:t>
            </a:r>
            <a:r>
              <a:rPr lang="pt-BR" dirty="0" err="1"/>
              <a:t>Results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6F9C2C-CF5C-7F58-34BA-12DBCB49AEC8}"/>
              </a:ext>
            </a:extLst>
          </p:cNvPr>
          <p:cNvSpPr/>
          <p:nvPr/>
        </p:nvSpPr>
        <p:spPr>
          <a:xfrm>
            <a:off x="0" y="2882371"/>
            <a:ext cx="2133600" cy="36000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5EFA8B4-D3E5-1A64-FF89-B3B354F17B0D}"/>
              </a:ext>
            </a:extLst>
          </p:cNvPr>
          <p:cNvSpPr/>
          <p:nvPr/>
        </p:nvSpPr>
        <p:spPr>
          <a:xfrm>
            <a:off x="0" y="36600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FFEE37-9BFE-3A8A-6E98-B41475AC1300}"/>
              </a:ext>
            </a:extLst>
          </p:cNvPr>
          <p:cNvSpPr/>
          <p:nvPr/>
        </p:nvSpPr>
        <p:spPr>
          <a:xfrm>
            <a:off x="0" y="4458742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0046D-9C92-4C70-C6D1-63791C0D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5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C8078-144E-B458-5EFE-8AEAFD2C1CE9}"/>
              </a:ext>
            </a:extLst>
          </p:cNvPr>
          <p:cNvSpPr/>
          <p:nvPr/>
        </p:nvSpPr>
        <p:spPr>
          <a:xfrm>
            <a:off x="0" y="52616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A550A10-9630-4A39-0EB8-B45D30480373}"/>
              </a:ext>
            </a:extLst>
          </p:cNvPr>
          <p:cNvSpPr txBox="1"/>
          <p:nvPr/>
        </p:nvSpPr>
        <p:spPr>
          <a:xfrm>
            <a:off x="786388" y="4835732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05 Next Steps</a:t>
            </a:r>
          </a:p>
        </p:txBody>
      </p:sp>
    </p:spTree>
    <p:extLst>
      <p:ext uri="{BB962C8B-B14F-4D97-AF65-F5344CB8AC3E}">
        <p14:creationId xmlns:p14="http://schemas.microsoft.com/office/powerpoint/2010/main" val="1196837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6</a:t>
            </a:fld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A8662B-FCA7-21C7-A621-1058109F8FD6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Literature</a:t>
            </a:r>
            <a:r>
              <a:rPr lang="pt-BR" sz="3600" dirty="0">
                <a:latin typeface="Century Gothic" panose="020B0502020202020204" pitchFamily="34" charset="0"/>
              </a:rPr>
              <a:t> Review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E5916EB-29DC-1FE1-8248-370BD283DA99}"/>
              </a:ext>
            </a:extLst>
          </p:cNvPr>
          <p:cNvSpPr/>
          <p:nvPr/>
        </p:nvSpPr>
        <p:spPr>
          <a:xfrm>
            <a:off x="698366" y="1662496"/>
            <a:ext cx="1882274" cy="185928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51154D-D7D6-59E7-D4ED-6D16801AF9FF}"/>
              </a:ext>
            </a:extLst>
          </p:cNvPr>
          <p:cNvSpPr txBox="1"/>
          <p:nvPr/>
        </p:nvSpPr>
        <p:spPr>
          <a:xfrm>
            <a:off x="698366" y="1807306"/>
            <a:ext cx="18822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</a:rPr>
              <a:t>9</a:t>
            </a:r>
            <a:endParaRPr lang="pt-BR" sz="5400" b="1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D53A35-F12B-18DE-C3AD-AE81BA073A46}"/>
              </a:ext>
            </a:extLst>
          </p:cNvPr>
          <p:cNvSpPr txBox="1"/>
          <p:nvPr/>
        </p:nvSpPr>
        <p:spPr>
          <a:xfrm>
            <a:off x="322446" y="3534058"/>
            <a:ext cx="2634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err="1">
                <a:latin typeface="Century Gothic" panose="020B0502020202020204" pitchFamily="34" charset="0"/>
              </a:rPr>
              <a:t>Selected</a:t>
            </a:r>
            <a:r>
              <a:rPr lang="pt-BR" sz="2800" dirty="0">
                <a:latin typeface="Century Gothic" panose="020B0502020202020204" pitchFamily="34" charset="0"/>
              </a:rPr>
              <a:t> </a:t>
            </a:r>
            <a:r>
              <a:rPr lang="pt-BR" sz="2800" dirty="0" err="1">
                <a:latin typeface="Century Gothic" panose="020B0502020202020204" pitchFamily="34" charset="0"/>
              </a:rPr>
              <a:t>Articles</a:t>
            </a:r>
            <a:endParaRPr lang="pt-BR" sz="2800" dirty="0">
              <a:latin typeface="Century Gothic" panose="020B0502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281D288-9FED-3828-6884-92F38D61F244}"/>
              </a:ext>
            </a:extLst>
          </p:cNvPr>
          <p:cNvSpPr txBox="1"/>
          <p:nvPr/>
        </p:nvSpPr>
        <p:spPr>
          <a:xfrm>
            <a:off x="429126" y="4768368"/>
            <a:ext cx="26341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>
                <a:latin typeface="Century Gothic" panose="020B0502020202020204" pitchFamily="34" charset="0"/>
              </a:rPr>
              <a:t>Publishers</a:t>
            </a:r>
            <a:r>
              <a:rPr lang="pt-BR" sz="2000" dirty="0">
                <a:latin typeface="Century Gothic" panose="020B0502020202020204" pitchFamily="34" charset="0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000" dirty="0">
                <a:latin typeface="Century Gothic" panose="020B0502020202020204" pitchFamily="34" charset="0"/>
              </a:rPr>
              <a:t>IEEE;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000" dirty="0" err="1">
                <a:latin typeface="Century Gothic" panose="020B0502020202020204" pitchFamily="34" charset="0"/>
              </a:rPr>
              <a:t>Elselvier</a:t>
            </a:r>
            <a:r>
              <a:rPr lang="pt-BR" sz="2000" dirty="0">
                <a:latin typeface="Century Gothic" panose="020B0502020202020204" pitchFamily="34" charset="0"/>
              </a:rPr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000" dirty="0" err="1">
                <a:latin typeface="Century Gothic" panose="020B0502020202020204" pitchFamily="34" charset="0"/>
              </a:rPr>
              <a:t>Nature</a:t>
            </a:r>
            <a:r>
              <a:rPr lang="pt-BR" sz="2000" dirty="0">
                <a:latin typeface="Century Gothic" panose="020B0502020202020204" pitchFamily="34" charset="0"/>
              </a:rPr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000" dirty="0">
                <a:latin typeface="Century Gothic" panose="020B0502020202020204" pitchFamily="34" charset="0"/>
              </a:rPr>
              <a:t>+...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E891FA9-304A-8BA2-91F7-4D692DC27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476400"/>
              </p:ext>
            </p:extLst>
          </p:nvPr>
        </p:nvGraphicFramePr>
        <p:xfrm>
          <a:off x="3467128" y="2145237"/>
          <a:ext cx="81280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640">
                  <a:extLst>
                    <a:ext uri="{9D8B030D-6E8A-4147-A177-3AD203B41FA5}">
                      <a16:colId xmlns:a16="http://schemas.microsoft.com/office/drawing/2014/main" val="2154385453"/>
                    </a:ext>
                  </a:extLst>
                </a:gridCol>
                <a:gridCol w="3096422">
                  <a:extLst>
                    <a:ext uri="{9D8B030D-6E8A-4147-A177-3AD203B41FA5}">
                      <a16:colId xmlns:a16="http://schemas.microsoft.com/office/drawing/2014/main" val="832612345"/>
                    </a:ext>
                  </a:extLst>
                </a:gridCol>
                <a:gridCol w="2373549">
                  <a:extLst>
                    <a:ext uri="{9D8B030D-6E8A-4147-A177-3AD203B41FA5}">
                      <a16:colId xmlns:a16="http://schemas.microsoft.com/office/drawing/2014/main" val="2031021393"/>
                    </a:ext>
                  </a:extLst>
                </a:gridCol>
                <a:gridCol w="1855389">
                  <a:extLst>
                    <a:ext uri="{9D8B030D-6E8A-4147-A177-3AD203B41FA5}">
                      <a16:colId xmlns:a16="http://schemas.microsoft.com/office/drawing/2014/main" val="4013655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entury Gothic" panose="020B0502020202020204" pitchFamily="34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kern="1200" dirty="0" err="1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Name</a:t>
                      </a:r>
                      <a:endParaRPr lang="pt-BR" sz="1800" b="1" kern="1200" dirty="0">
                        <a:solidFill>
                          <a:schemeClr val="l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Model</a:t>
                      </a:r>
                      <a:r>
                        <a:rPr lang="pt-BR" dirty="0"/>
                        <a:t> </a:t>
                      </a:r>
                      <a:r>
                        <a:rPr lang="pt-BR" sz="1800" b="1" kern="1200" dirty="0" err="1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Used</a:t>
                      </a:r>
                      <a:endParaRPr lang="pt-BR" sz="1800" b="1" kern="1200" dirty="0">
                        <a:solidFill>
                          <a:schemeClr val="lt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87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latin typeface="Century Gothic" panose="020B0502020202020204" pitchFamily="34" charset="0"/>
                        </a:rPr>
                        <a:t>Assessing Machine learning-based approaches for Silica concentration estimation in Iron Froth Flotation.</a:t>
                      </a:r>
                      <a:endParaRPr lang="pt-BR" sz="11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Random Forest;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LSTM;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Gated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Recurrent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Network.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MAE: 0.07 (LSTM);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MSE: 0.01(LSTM).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60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Developing a data-driven soft sensor to predict silicate impurity in iron ore flotation concentrate</a:t>
                      </a:r>
                      <a:endParaRPr lang="pt-BR" sz="11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Random Forest;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Multi-layer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Perceptron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Rigde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Regression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R2: 0.965 (RF);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MAE: 0.09 (RF).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106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Machine Learning Based Estimation of Silicon Concentration in Froth Flotation Process</a:t>
                      </a:r>
                      <a:endParaRPr lang="pt-BR" sz="11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Random Forest;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Extreme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Gradient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Boost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Suport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Vector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Machines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R2: 0.997 (RF)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MAE: 0.06 (SVR);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MSE: 0.003(RF).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74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Time-series Prediction of Silicon Content in Froth Flotation Based on MI-PCA and Improved LSTM</a:t>
                      </a:r>
                      <a:endParaRPr lang="pt-BR" sz="11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Recurrent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Neural Network;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LSTM;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Extreme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Gradient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dirty="0" err="1">
                          <a:latin typeface="Century Gothic" panose="020B0502020202020204" pitchFamily="34" charset="0"/>
                        </a:rPr>
                        <a:t>Boost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MAE: 0.47 (LSTM);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RMSE: 0.71 (LSTM).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19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Prediction of Silica Impurity Using Deep Learning Techniques for Mining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LSTM;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Random Forest;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Mutiple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Linear </a:t>
                      </a:r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Regression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‘</a:t>
                      </a:r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Good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results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’ </a:t>
                      </a:r>
                      <a:r>
                        <a:rPr lang="pt-BR" sz="1200" i="1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according</a:t>
                      </a:r>
                      <a:r>
                        <a:rPr lang="pt-BR" sz="1200" i="1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i="1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to</a:t>
                      </a:r>
                      <a:r>
                        <a:rPr lang="pt-BR" sz="1200" i="1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i="1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the</a:t>
                      </a:r>
                      <a:r>
                        <a:rPr lang="pt-BR" sz="1200" i="1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i="1" kern="120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author</a:t>
                      </a:r>
                      <a:r>
                        <a:rPr lang="pt-BR" sz="1200" i="1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. </a:t>
                      </a:r>
                      <a:r>
                        <a:rPr lang="pt-BR" sz="1200" i="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:D</a:t>
                      </a:r>
                      <a:endParaRPr lang="pt-BR" sz="1200" i="0" kern="1200" dirty="0">
                        <a:solidFill>
                          <a:srgbClr val="FF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31107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456230AC-FD86-4EC6-7699-B24CA148FF6F}"/>
              </a:ext>
            </a:extLst>
          </p:cNvPr>
          <p:cNvSpPr txBox="1"/>
          <p:nvPr/>
        </p:nvSpPr>
        <p:spPr>
          <a:xfrm>
            <a:off x="3383308" y="1703467"/>
            <a:ext cx="4249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i="0" dirty="0"/>
              <a:t>Most </a:t>
            </a:r>
            <a:r>
              <a:rPr lang="pt-BR" i="0" dirty="0" err="1"/>
              <a:t>closely</a:t>
            </a:r>
            <a:r>
              <a:rPr lang="pt-BR" i="0" dirty="0"/>
              <a:t> </a:t>
            </a:r>
            <a:r>
              <a:rPr lang="pt-BR" i="0" dirty="0" err="1"/>
              <a:t>related</a:t>
            </a:r>
            <a:r>
              <a:rPr lang="pt-BR" i="0" dirty="0"/>
              <a:t> </a:t>
            </a:r>
            <a:r>
              <a:rPr lang="pt-BR" i="0" dirty="0" err="1"/>
              <a:t>works</a:t>
            </a:r>
            <a:r>
              <a:rPr lang="pt-BR" i="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2348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Agenda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012AD0-5B39-5599-DAF1-A357C58991EE}"/>
              </a:ext>
            </a:extLst>
          </p:cNvPr>
          <p:cNvSpPr txBox="1"/>
          <p:nvPr/>
        </p:nvSpPr>
        <p:spPr>
          <a:xfrm>
            <a:off x="786388" y="1735375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01 </a:t>
            </a:r>
            <a:r>
              <a:rPr lang="pt-BR" dirty="0" err="1"/>
              <a:t>Introduction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6DE4DB-C2AE-1E84-6505-4C9FA00E10D9}"/>
              </a:ext>
            </a:extLst>
          </p:cNvPr>
          <p:cNvSpPr/>
          <p:nvPr/>
        </p:nvSpPr>
        <p:spPr>
          <a:xfrm>
            <a:off x="0" y="210470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9ED4B2-76FA-BFEF-2875-742F449B2822}"/>
              </a:ext>
            </a:extLst>
          </p:cNvPr>
          <p:cNvSpPr txBox="1"/>
          <p:nvPr/>
        </p:nvSpPr>
        <p:spPr>
          <a:xfrm>
            <a:off x="786388" y="2509706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02 </a:t>
            </a:r>
            <a:r>
              <a:rPr lang="pt-BR" dirty="0" err="1"/>
              <a:t>Literature</a:t>
            </a:r>
            <a:r>
              <a:rPr lang="pt-BR" dirty="0"/>
              <a:t> Review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9A752D-18AA-AB5D-274D-A064C6D55636}"/>
              </a:ext>
            </a:extLst>
          </p:cNvPr>
          <p:cNvSpPr txBox="1"/>
          <p:nvPr/>
        </p:nvSpPr>
        <p:spPr>
          <a:xfrm>
            <a:off x="786388" y="3284037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03 </a:t>
            </a:r>
            <a:r>
              <a:rPr lang="pt-BR" dirty="0" err="1"/>
              <a:t>Exploratory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BC8A3F-1097-AC17-36F2-2902AE9886AE}"/>
              </a:ext>
            </a:extLst>
          </p:cNvPr>
          <p:cNvSpPr txBox="1"/>
          <p:nvPr/>
        </p:nvSpPr>
        <p:spPr>
          <a:xfrm>
            <a:off x="786388" y="4058368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04 </a:t>
            </a:r>
            <a:r>
              <a:rPr lang="pt-BR" dirty="0" err="1"/>
              <a:t>Results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6F9C2C-CF5C-7F58-34BA-12DBCB49AEC8}"/>
              </a:ext>
            </a:extLst>
          </p:cNvPr>
          <p:cNvSpPr/>
          <p:nvPr/>
        </p:nvSpPr>
        <p:spPr>
          <a:xfrm>
            <a:off x="0" y="2882371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5EFA8B4-D3E5-1A64-FF89-B3B354F17B0D}"/>
              </a:ext>
            </a:extLst>
          </p:cNvPr>
          <p:cNvSpPr/>
          <p:nvPr/>
        </p:nvSpPr>
        <p:spPr>
          <a:xfrm>
            <a:off x="0" y="3660036"/>
            <a:ext cx="2133600" cy="36000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FFEE37-9BFE-3A8A-6E98-B41475AC1300}"/>
              </a:ext>
            </a:extLst>
          </p:cNvPr>
          <p:cNvSpPr/>
          <p:nvPr/>
        </p:nvSpPr>
        <p:spPr>
          <a:xfrm>
            <a:off x="0" y="4458742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0046D-9C92-4C70-C6D1-63791C0D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7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4234422-BCFB-881A-15F7-BF8A638FBA1F}"/>
              </a:ext>
            </a:extLst>
          </p:cNvPr>
          <p:cNvSpPr/>
          <p:nvPr/>
        </p:nvSpPr>
        <p:spPr>
          <a:xfrm>
            <a:off x="0" y="52616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8CF8F97-270F-E712-6B71-62792F0B3CD0}"/>
              </a:ext>
            </a:extLst>
          </p:cNvPr>
          <p:cNvSpPr txBox="1"/>
          <p:nvPr/>
        </p:nvSpPr>
        <p:spPr>
          <a:xfrm>
            <a:off x="786388" y="4835732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05 Next Steps</a:t>
            </a:r>
          </a:p>
        </p:txBody>
      </p:sp>
    </p:spTree>
    <p:extLst>
      <p:ext uri="{BB962C8B-B14F-4D97-AF65-F5344CB8AC3E}">
        <p14:creationId xmlns:p14="http://schemas.microsoft.com/office/powerpoint/2010/main" val="127908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8</a:t>
            </a:fld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A8662B-FCA7-21C7-A621-1058109F8FD6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Exploratory</a:t>
            </a:r>
            <a:r>
              <a:rPr lang="pt-BR" sz="3600" dirty="0">
                <a:latin typeface="Century Gothic" panose="020B0502020202020204" pitchFamily="34" charset="0"/>
              </a:rPr>
              <a:t> Data </a:t>
            </a:r>
            <a:r>
              <a:rPr lang="pt-BR" sz="3600" dirty="0" err="1">
                <a:latin typeface="Century Gothic" panose="020B0502020202020204" pitchFamily="34" charset="0"/>
              </a:rPr>
              <a:t>Analysis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7E894A5-B0CE-E489-D420-D3D8CE80FAEA}"/>
              </a:ext>
            </a:extLst>
          </p:cNvPr>
          <p:cNvSpPr/>
          <p:nvPr/>
        </p:nvSpPr>
        <p:spPr>
          <a:xfrm>
            <a:off x="357029" y="1215335"/>
            <a:ext cx="11477943" cy="512488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3" name="Imagem 4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285438C3-40C2-FA9A-E724-88572F2A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24" y="1421088"/>
            <a:ext cx="6415264" cy="4570639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3F039328-1431-FCF5-D6CB-0AF5C516E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12" y="3031012"/>
            <a:ext cx="1098782" cy="408850"/>
          </a:xfrm>
          <a:prstGeom prst="rect">
            <a:avLst/>
          </a:prstGeom>
        </p:spPr>
      </p:pic>
      <p:pic>
        <p:nvPicPr>
          <p:cNvPr id="46" name="Imagem 45" descr="Texto&#10;&#10;O conteúdo gerado por IA pode estar incorreto.">
            <a:extLst>
              <a:ext uri="{FF2B5EF4-FFF2-40B4-BE49-F238E27FC236}">
                <a16:creationId xmlns:a16="http://schemas.microsoft.com/office/drawing/2014/main" id="{98C496C1-64D8-51B5-4942-0739F3C41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26" y="1281524"/>
            <a:ext cx="4234454" cy="1640851"/>
          </a:xfrm>
          <a:prstGeom prst="rect">
            <a:avLst/>
          </a:prstGeom>
        </p:spPr>
      </p:pic>
      <p:sp>
        <p:nvSpPr>
          <p:cNvPr id="47" name="Retângulo 46">
            <a:extLst>
              <a:ext uri="{FF2B5EF4-FFF2-40B4-BE49-F238E27FC236}">
                <a16:creationId xmlns:a16="http://schemas.microsoft.com/office/drawing/2014/main" id="{8A704309-DD2A-0E8C-DC27-885C0CD6B77A}"/>
              </a:ext>
            </a:extLst>
          </p:cNvPr>
          <p:cNvSpPr/>
          <p:nvPr/>
        </p:nvSpPr>
        <p:spPr>
          <a:xfrm>
            <a:off x="650875" y="2305742"/>
            <a:ext cx="174625" cy="12948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4" name="Imagem 43" descr="Imagem em preto e branco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3243752-28E0-D277-E68A-64D5974D8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819" y="2779969"/>
            <a:ext cx="2822258" cy="340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59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9</a:t>
            </a:fld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A8662B-FCA7-21C7-A621-1058109F8FD6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Exploratory</a:t>
            </a:r>
            <a:r>
              <a:rPr lang="pt-BR" sz="3600" dirty="0">
                <a:latin typeface="Century Gothic" panose="020B0502020202020204" pitchFamily="34" charset="0"/>
              </a:rPr>
              <a:t> Data </a:t>
            </a:r>
            <a:r>
              <a:rPr lang="pt-BR" sz="3600" dirty="0" err="1">
                <a:latin typeface="Century Gothic" panose="020B0502020202020204" pitchFamily="34" charset="0"/>
              </a:rPr>
              <a:t>Analysis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133258-B963-F3B1-1EA6-F13C15CE942F}"/>
              </a:ext>
            </a:extLst>
          </p:cNvPr>
          <p:cNvSpPr txBox="1"/>
          <p:nvPr/>
        </p:nvSpPr>
        <p:spPr>
          <a:xfrm>
            <a:off x="885825" y="866273"/>
            <a:ext cx="445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Target Variable -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Stationarity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: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D1593FD-EBF8-034E-2D79-1F260FD03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840" t="5895" r="9681" b="1729"/>
          <a:stretch>
            <a:fillRect/>
          </a:stretch>
        </p:blipFill>
        <p:spPr>
          <a:xfrm>
            <a:off x="933855" y="1298634"/>
            <a:ext cx="10116565" cy="3483628"/>
          </a:xfrm>
          <a:prstGeom prst="rect">
            <a:avLst/>
          </a:prstGeom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83527F5C-2DAF-D0CF-764A-5C6B53DE4E39}"/>
              </a:ext>
            </a:extLst>
          </p:cNvPr>
          <p:cNvGrpSpPr/>
          <p:nvPr/>
        </p:nvGrpSpPr>
        <p:grpSpPr>
          <a:xfrm>
            <a:off x="1421048" y="5090809"/>
            <a:ext cx="9349904" cy="1525489"/>
            <a:chOff x="763600" y="5090809"/>
            <a:chExt cx="9349904" cy="1525489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D51ACD5D-EAA8-3792-7510-F1F00F508780}"/>
                </a:ext>
              </a:extLst>
            </p:cNvPr>
            <p:cNvGrpSpPr/>
            <p:nvPr/>
          </p:nvGrpSpPr>
          <p:grpSpPr>
            <a:xfrm>
              <a:off x="2078496" y="5090809"/>
              <a:ext cx="1316477" cy="1525489"/>
              <a:chOff x="1666672" y="5090809"/>
              <a:chExt cx="1316477" cy="1525489"/>
            </a:xfrm>
          </p:grpSpPr>
          <p:cxnSp>
            <p:nvCxnSpPr>
              <p:cNvPr id="6" name="Conector de Seta Reta 5">
                <a:extLst>
                  <a:ext uri="{FF2B5EF4-FFF2-40B4-BE49-F238E27FC236}">
                    <a16:creationId xmlns:a16="http://schemas.microsoft.com/office/drawing/2014/main" id="{B14E72A1-FBDB-4D29-46E3-DB39401EE13E}"/>
                  </a:ext>
                </a:extLst>
              </p:cNvPr>
              <p:cNvCxnSpPr/>
              <p:nvPr/>
            </p:nvCxnSpPr>
            <p:spPr>
              <a:xfrm flipV="1">
                <a:off x="1666672" y="5090809"/>
                <a:ext cx="0" cy="11997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ector de Seta Reta 6">
                <a:extLst>
                  <a:ext uri="{FF2B5EF4-FFF2-40B4-BE49-F238E27FC236}">
                    <a16:creationId xmlns:a16="http://schemas.microsoft.com/office/drawing/2014/main" id="{E22F5DB9-5FFD-686E-1360-DBA0DCE2E1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6672" y="6290553"/>
                <a:ext cx="131647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A5A71D88-05AE-8721-B821-EF2DC548984C}"/>
                  </a:ext>
                </a:extLst>
              </p:cNvPr>
              <p:cNvSpPr/>
              <p:nvPr/>
            </p:nvSpPr>
            <p:spPr>
              <a:xfrm>
                <a:off x="1679644" y="5604065"/>
                <a:ext cx="1076528" cy="1012233"/>
              </a:xfrm>
              <a:custGeom>
                <a:avLst/>
                <a:gdLst>
                  <a:gd name="csX0" fmla="*/ 0 w 979251"/>
                  <a:gd name="csY0" fmla="*/ 680003 h 1012233"/>
                  <a:gd name="csX1" fmla="*/ 110246 w 979251"/>
                  <a:gd name="csY1" fmla="*/ 5552 h 1012233"/>
                  <a:gd name="csX2" fmla="*/ 175097 w 979251"/>
                  <a:gd name="csY2" fmla="*/ 1010744 h 1012233"/>
                  <a:gd name="csX3" fmla="*/ 272374 w 979251"/>
                  <a:gd name="csY3" fmla="*/ 245501 h 1012233"/>
                  <a:gd name="csX4" fmla="*/ 330740 w 979251"/>
                  <a:gd name="csY4" fmla="*/ 848616 h 1012233"/>
                  <a:gd name="csX5" fmla="*/ 408561 w 979251"/>
                  <a:gd name="csY5" fmla="*/ 401144 h 1012233"/>
                  <a:gd name="csX6" fmla="*/ 466927 w 979251"/>
                  <a:gd name="csY6" fmla="*/ 764309 h 1012233"/>
                  <a:gd name="csX7" fmla="*/ 590144 w 979251"/>
                  <a:gd name="csY7" fmla="*/ 543816 h 1012233"/>
                  <a:gd name="csX8" fmla="*/ 680936 w 979251"/>
                  <a:gd name="csY8" fmla="*/ 783765 h 1012233"/>
                  <a:gd name="csX9" fmla="*/ 836578 w 979251"/>
                  <a:gd name="csY9" fmla="*/ 712429 h 1012233"/>
                  <a:gd name="csX10" fmla="*/ 979251 w 979251"/>
                  <a:gd name="csY10" fmla="*/ 809705 h 1012233"/>
                  <a:gd name="csX0" fmla="*/ 0 w 979251"/>
                  <a:gd name="csY0" fmla="*/ 680003 h 1012233"/>
                  <a:gd name="csX1" fmla="*/ 110246 w 979251"/>
                  <a:gd name="csY1" fmla="*/ 5552 h 1012233"/>
                  <a:gd name="csX2" fmla="*/ 175097 w 979251"/>
                  <a:gd name="csY2" fmla="*/ 1010744 h 1012233"/>
                  <a:gd name="csX3" fmla="*/ 272374 w 979251"/>
                  <a:gd name="csY3" fmla="*/ 245501 h 1012233"/>
                  <a:gd name="csX4" fmla="*/ 330740 w 979251"/>
                  <a:gd name="csY4" fmla="*/ 848616 h 1012233"/>
                  <a:gd name="csX5" fmla="*/ 408561 w 979251"/>
                  <a:gd name="csY5" fmla="*/ 401144 h 1012233"/>
                  <a:gd name="csX6" fmla="*/ 466927 w 979251"/>
                  <a:gd name="csY6" fmla="*/ 764309 h 1012233"/>
                  <a:gd name="csX7" fmla="*/ 590144 w 979251"/>
                  <a:gd name="csY7" fmla="*/ 543816 h 1012233"/>
                  <a:gd name="csX8" fmla="*/ 680936 w 979251"/>
                  <a:gd name="csY8" fmla="*/ 783765 h 1012233"/>
                  <a:gd name="csX9" fmla="*/ 797668 w 979251"/>
                  <a:gd name="csY9" fmla="*/ 615152 h 1012233"/>
                  <a:gd name="csX10" fmla="*/ 979251 w 979251"/>
                  <a:gd name="csY10" fmla="*/ 809705 h 1012233"/>
                  <a:gd name="csX0" fmla="*/ 0 w 979251"/>
                  <a:gd name="csY0" fmla="*/ 680003 h 1012233"/>
                  <a:gd name="csX1" fmla="*/ 110246 w 979251"/>
                  <a:gd name="csY1" fmla="*/ 5552 h 1012233"/>
                  <a:gd name="csX2" fmla="*/ 175097 w 979251"/>
                  <a:gd name="csY2" fmla="*/ 1010744 h 1012233"/>
                  <a:gd name="csX3" fmla="*/ 272374 w 979251"/>
                  <a:gd name="csY3" fmla="*/ 245501 h 1012233"/>
                  <a:gd name="csX4" fmla="*/ 330740 w 979251"/>
                  <a:gd name="csY4" fmla="*/ 848616 h 1012233"/>
                  <a:gd name="csX5" fmla="*/ 408561 w 979251"/>
                  <a:gd name="csY5" fmla="*/ 401144 h 1012233"/>
                  <a:gd name="csX6" fmla="*/ 466927 w 979251"/>
                  <a:gd name="csY6" fmla="*/ 764309 h 1012233"/>
                  <a:gd name="csX7" fmla="*/ 590144 w 979251"/>
                  <a:gd name="csY7" fmla="*/ 543816 h 1012233"/>
                  <a:gd name="csX8" fmla="*/ 680936 w 979251"/>
                  <a:gd name="csY8" fmla="*/ 744854 h 1012233"/>
                  <a:gd name="csX9" fmla="*/ 797668 w 979251"/>
                  <a:gd name="csY9" fmla="*/ 615152 h 1012233"/>
                  <a:gd name="csX10" fmla="*/ 979251 w 979251"/>
                  <a:gd name="csY10" fmla="*/ 809705 h 1012233"/>
                  <a:gd name="csX0" fmla="*/ 0 w 1050587"/>
                  <a:gd name="csY0" fmla="*/ 680003 h 1012233"/>
                  <a:gd name="csX1" fmla="*/ 110246 w 1050587"/>
                  <a:gd name="csY1" fmla="*/ 5552 h 1012233"/>
                  <a:gd name="csX2" fmla="*/ 175097 w 1050587"/>
                  <a:gd name="csY2" fmla="*/ 1010744 h 1012233"/>
                  <a:gd name="csX3" fmla="*/ 272374 w 1050587"/>
                  <a:gd name="csY3" fmla="*/ 245501 h 1012233"/>
                  <a:gd name="csX4" fmla="*/ 330740 w 1050587"/>
                  <a:gd name="csY4" fmla="*/ 848616 h 1012233"/>
                  <a:gd name="csX5" fmla="*/ 408561 w 1050587"/>
                  <a:gd name="csY5" fmla="*/ 401144 h 1012233"/>
                  <a:gd name="csX6" fmla="*/ 466927 w 1050587"/>
                  <a:gd name="csY6" fmla="*/ 764309 h 1012233"/>
                  <a:gd name="csX7" fmla="*/ 590144 w 1050587"/>
                  <a:gd name="csY7" fmla="*/ 543816 h 1012233"/>
                  <a:gd name="csX8" fmla="*/ 680936 w 1050587"/>
                  <a:gd name="csY8" fmla="*/ 744854 h 1012233"/>
                  <a:gd name="csX9" fmla="*/ 797668 w 1050587"/>
                  <a:gd name="csY9" fmla="*/ 615152 h 1012233"/>
                  <a:gd name="csX10" fmla="*/ 1050587 w 1050587"/>
                  <a:gd name="csY10" fmla="*/ 751339 h 1012233"/>
                  <a:gd name="csX0" fmla="*/ 0 w 1050587"/>
                  <a:gd name="csY0" fmla="*/ 680003 h 1012233"/>
                  <a:gd name="csX1" fmla="*/ 110246 w 1050587"/>
                  <a:gd name="csY1" fmla="*/ 5552 h 1012233"/>
                  <a:gd name="csX2" fmla="*/ 175097 w 1050587"/>
                  <a:gd name="csY2" fmla="*/ 1010744 h 1012233"/>
                  <a:gd name="csX3" fmla="*/ 272374 w 1050587"/>
                  <a:gd name="csY3" fmla="*/ 245501 h 1012233"/>
                  <a:gd name="csX4" fmla="*/ 330740 w 1050587"/>
                  <a:gd name="csY4" fmla="*/ 848616 h 1012233"/>
                  <a:gd name="csX5" fmla="*/ 408561 w 1050587"/>
                  <a:gd name="csY5" fmla="*/ 401144 h 1012233"/>
                  <a:gd name="csX6" fmla="*/ 466927 w 1050587"/>
                  <a:gd name="csY6" fmla="*/ 764309 h 1012233"/>
                  <a:gd name="csX7" fmla="*/ 590144 w 1050587"/>
                  <a:gd name="csY7" fmla="*/ 543816 h 1012233"/>
                  <a:gd name="csX8" fmla="*/ 680936 w 1050587"/>
                  <a:gd name="csY8" fmla="*/ 744854 h 1012233"/>
                  <a:gd name="csX9" fmla="*/ 797668 w 1050587"/>
                  <a:gd name="csY9" fmla="*/ 615152 h 1012233"/>
                  <a:gd name="csX10" fmla="*/ 1050587 w 1050587"/>
                  <a:gd name="csY10" fmla="*/ 751339 h 1012233"/>
                  <a:gd name="csX0" fmla="*/ 0 w 1076528"/>
                  <a:gd name="csY0" fmla="*/ 680003 h 1012233"/>
                  <a:gd name="csX1" fmla="*/ 110246 w 1076528"/>
                  <a:gd name="csY1" fmla="*/ 5552 h 1012233"/>
                  <a:gd name="csX2" fmla="*/ 175097 w 1076528"/>
                  <a:gd name="csY2" fmla="*/ 1010744 h 1012233"/>
                  <a:gd name="csX3" fmla="*/ 272374 w 1076528"/>
                  <a:gd name="csY3" fmla="*/ 245501 h 1012233"/>
                  <a:gd name="csX4" fmla="*/ 330740 w 1076528"/>
                  <a:gd name="csY4" fmla="*/ 848616 h 1012233"/>
                  <a:gd name="csX5" fmla="*/ 408561 w 1076528"/>
                  <a:gd name="csY5" fmla="*/ 401144 h 1012233"/>
                  <a:gd name="csX6" fmla="*/ 466927 w 1076528"/>
                  <a:gd name="csY6" fmla="*/ 764309 h 1012233"/>
                  <a:gd name="csX7" fmla="*/ 590144 w 1076528"/>
                  <a:gd name="csY7" fmla="*/ 543816 h 1012233"/>
                  <a:gd name="csX8" fmla="*/ 680936 w 1076528"/>
                  <a:gd name="csY8" fmla="*/ 744854 h 1012233"/>
                  <a:gd name="csX9" fmla="*/ 797668 w 1076528"/>
                  <a:gd name="csY9" fmla="*/ 615152 h 1012233"/>
                  <a:gd name="csX10" fmla="*/ 1076528 w 1076528"/>
                  <a:gd name="csY10" fmla="*/ 699459 h 10122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76528" h="1012233">
                    <a:moveTo>
                      <a:pt x="0" y="680003"/>
                    </a:moveTo>
                    <a:cubicBezTo>
                      <a:pt x="40531" y="315216"/>
                      <a:pt x="81063" y="-49571"/>
                      <a:pt x="110246" y="5552"/>
                    </a:cubicBezTo>
                    <a:cubicBezTo>
                      <a:pt x="139429" y="60675"/>
                      <a:pt x="148076" y="970753"/>
                      <a:pt x="175097" y="1010744"/>
                    </a:cubicBezTo>
                    <a:cubicBezTo>
                      <a:pt x="202118" y="1050736"/>
                      <a:pt x="246434" y="272522"/>
                      <a:pt x="272374" y="245501"/>
                    </a:cubicBezTo>
                    <a:cubicBezTo>
                      <a:pt x="298315" y="218480"/>
                      <a:pt x="308042" y="822676"/>
                      <a:pt x="330740" y="848616"/>
                    </a:cubicBezTo>
                    <a:cubicBezTo>
                      <a:pt x="353438" y="874556"/>
                      <a:pt x="385863" y="415195"/>
                      <a:pt x="408561" y="401144"/>
                    </a:cubicBezTo>
                    <a:cubicBezTo>
                      <a:pt x="431259" y="387093"/>
                      <a:pt x="436663" y="740530"/>
                      <a:pt x="466927" y="764309"/>
                    </a:cubicBezTo>
                    <a:cubicBezTo>
                      <a:pt x="497191" y="788088"/>
                      <a:pt x="554476" y="547059"/>
                      <a:pt x="590144" y="543816"/>
                    </a:cubicBezTo>
                    <a:cubicBezTo>
                      <a:pt x="625812" y="540574"/>
                      <a:pt x="646349" y="732965"/>
                      <a:pt x="680936" y="744854"/>
                    </a:cubicBezTo>
                    <a:cubicBezTo>
                      <a:pt x="715523" y="756743"/>
                      <a:pt x="747949" y="610829"/>
                      <a:pt x="797668" y="615152"/>
                    </a:cubicBezTo>
                    <a:cubicBezTo>
                      <a:pt x="847387" y="619475"/>
                      <a:pt x="985737" y="716753"/>
                      <a:pt x="1076528" y="699459"/>
                    </a:cubicBezTo>
                  </a:path>
                </a:pathLst>
              </a:custGeom>
              <a:noFill/>
              <a:ln>
                <a:solidFill>
                  <a:srgbClr val="B227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ECB73387-44CD-C47D-1C76-B2052EFE727A}"/>
                </a:ext>
              </a:extLst>
            </p:cNvPr>
            <p:cNvGrpSpPr/>
            <p:nvPr/>
          </p:nvGrpSpPr>
          <p:grpSpPr>
            <a:xfrm>
              <a:off x="5438551" y="5090809"/>
              <a:ext cx="1316477" cy="1206227"/>
              <a:chOff x="5145122" y="5090809"/>
              <a:chExt cx="1316477" cy="1206227"/>
            </a:xfrm>
          </p:grpSpPr>
          <p:cxnSp>
            <p:nvCxnSpPr>
              <p:cNvPr id="16" name="Conector de Seta Reta 15">
                <a:extLst>
                  <a:ext uri="{FF2B5EF4-FFF2-40B4-BE49-F238E27FC236}">
                    <a16:creationId xmlns:a16="http://schemas.microsoft.com/office/drawing/2014/main" id="{A2AB7FEB-45AA-A950-0FC9-A59CC90868D3}"/>
                  </a:ext>
                </a:extLst>
              </p:cNvPr>
              <p:cNvCxnSpPr/>
              <p:nvPr/>
            </p:nvCxnSpPr>
            <p:spPr>
              <a:xfrm flipV="1">
                <a:off x="5145122" y="5090809"/>
                <a:ext cx="0" cy="11997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de Seta Reta 16">
                <a:extLst>
                  <a:ext uri="{FF2B5EF4-FFF2-40B4-BE49-F238E27FC236}">
                    <a16:creationId xmlns:a16="http://schemas.microsoft.com/office/drawing/2014/main" id="{9D21DB60-BD46-177A-C6BD-DF600CCA10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5122" y="6290553"/>
                <a:ext cx="131647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8192A3CB-304B-E940-94AA-584CB02A0E76}"/>
                  </a:ext>
                </a:extLst>
              </p:cNvPr>
              <p:cNvSpPr/>
              <p:nvPr/>
            </p:nvSpPr>
            <p:spPr>
              <a:xfrm>
                <a:off x="5151648" y="5486400"/>
                <a:ext cx="1071582" cy="810636"/>
              </a:xfrm>
              <a:custGeom>
                <a:avLst/>
                <a:gdLst>
                  <a:gd name="csX0" fmla="*/ 0 w 1718553"/>
                  <a:gd name="csY0" fmla="*/ 1279980 h 1279980"/>
                  <a:gd name="csX1" fmla="*/ 272375 w 1718553"/>
                  <a:gd name="csY1" fmla="*/ 527708 h 1279980"/>
                  <a:gd name="csX2" fmla="*/ 564204 w 1718553"/>
                  <a:gd name="csY2" fmla="*/ 916814 h 1279980"/>
                  <a:gd name="csX3" fmla="*/ 823609 w 1718553"/>
                  <a:gd name="csY3" fmla="*/ 287759 h 1279980"/>
                  <a:gd name="csX4" fmla="*/ 1186775 w 1718553"/>
                  <a:gd name="csY4" fmla="*/ 579589 h 1279980"/>
                  <a:gd name="csX5" fmla="*/ 1387813 w 1718553"/>
                  <a:gd name="csY5" fmla="*/ 8899 h 1279980"/>
                  <a:gd name="csX6" fmla="*/ 1718553 w 1718553"/>
                  <a:gd name="csY6" fmla="*/ 216423 h 12799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718553" h="1279980">
                    <a:moveTo>
                      <a:pt x="0" y="1279980"/>
                    </a:moveTo>
                    <a:cubicBezTo>
                      <a:pt x="89170" y="934108"/>
                      <a:pt x="178341" y="588236"/>
                      <a:pt x="272375" y="527708"/>
                    </a:cubicBezTo>
                    <a:cubicBezTo>
                      <a:pt x="366409" y="467180"/>
                      <a:pt x="472332" y="956805"/>
                      <a:pt x="564204" y="916814"/>
                    </a:cubicBezTo>
                    <a:cubicBezTo>
                      <a:pt x="656076" y="876822"/>
                      <a:pt x="719847" y="343963"/>
                      <a:pt x="823609" y="287759"/>
                    </a:cubicBezTo>
                    <a:cubicBezTo>
                      <a:pt x="927371" y="231555"/>
                      <a:pt x="1092741" y="626066"/>
                      <a:pt x="1186775" y="579589"/>
                    </a:cubicBezTo>
                    <a:cubicBezTo>
                      <a:pt x="1280809" y="533112"/>
                      <a:pt x="1299183" y="69427"/>
                      <a:pt x="1387813" y="8899"/>
                    </a:cubicBezTo>
                    <a:cubicBezTo>
                      <a:pt x="1476443" y="-51629"/>
                      <a:pt x="1718553" y="216423"/>
                      <a:pt x="1718553" y="216423"/>
                    </a:cubicBezTo>
                  </a:path>
                </a:pathLst>
              </a:custGeom>
              <a:noFill/>
              <a:ln>
                <a:solidFill>
                  <a:srgbClr val="B227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4590AE5D-976B-54F3-8ECD-37CAF8A6BC1F}"/>
                </a:ext>
              </a:extLst>
            </p:cNvPr>
            <p:cNvGrpSpPr/>
            <p:nvPr/>
          </p:nvGrpSpPr>
          <p:grpSpPr>
            <a:xfrm>
              <a:off x="8797027" y="5090809"/>
              <a:ext cx="1316477" cy="1206229"/>
              <a:chOff x="8385203" y="5090809"/>
              <a:chExt cx="1316477" cy="1206229"/>
            </a:xfrm>
          </p:grpSpPr>
          <p:cxnSp>
            <p:nvCxnSpPr>
              <p:cNvPr id="20" name="Conector de Seta Reta 19">
                <a:extLst>
                  <a:ext uri="{FF2B5EF4-FFF2-40B4-BE49-F238E27FC236}">
                    <a16:creationId xmlns:a16="http://schemas.microsoft.com/office/drawing/2014/main" id="{91543724-3A2E-1FF7-E976-A6C047E6C82E}"/>
                  </a:ext>
                </a:extLst>
              </p:cNvPr>
              <p:cNvCxnSpPr/>
              <p:nvPr/>
            </p:nvCxnSpPr>
            <p:spPr>
              <a:xfrm flipV="1">
                <a:off x="8385203" y="5090809"/>
                <a:ext cx="0" cy="11997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de Seta Reta 20">
                <a:extLst>
                  <a:ext uri="{FF2B5EF4-FFF2-40B4-BE49-F238E27FC236}">
                    <a16:creationId xmlns:a16="http://schemas.microsoft.com/office/drawing/2014/main" id="{8C0548F7-459B-A8FC-C411-D8FAEB64F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5203" y="6290553"/>
                <a:ext cx="131647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3677E2C1-DC48-6509-D63D-26EB3AD73301}"/>
                  </a:ext>
                </a:extLst>
              </p:cNvPr>
              <p:cNvSpPr/>
              <p:nvPr/>
            </p:nvSpPr>
            <p:spPr>
              <a:xfrm>
                <a:off x="8391729" y="5486400"/>
                <a:ext cx="1160834" cy="810638"/>
              </a:xfrm>
              <a:custGeom>
                <a:avLst/>
                <a:gdLst>
                  <a:gd name="csX0" fmla="*/ 0 w 1271081"/>
                  <a:gd name="csY0" fmla="*/ 920885 h 920885"/>
                  <a:gd name="csX1" fmla="*/ 376136 w 1271081"/>
                  <a:gd name="csY1" fmla="*/ 382621 h 920885"/>
                  <a:gd name="csX2" fmla="*/ 907915 w 1271081"/>
                  <a:gd name="csY2" fmla="*/ 291830 h 920885"/>
                  <a:gd name="csX3" fmla="*/ 1271081 w 1271081"/>
                  <a:gd name="csY3" fmla="*/ 0 h 9208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71081" h="920885">
                    <a:moveTo>
                      <a:pt x="0" y="920885"/>
                    </a:moveTo>
                    <a:cubicBezTo>
                      <a:pt x="112408" y="704174"/>
                      <a:pt x="224817" y="487464"/>
                      <a:pt x="376136" y="382621"/>
                    </a:cubicBezTo>
                    <a:cubicBezTo>
                      <a:pt x="527455" y="277778"/>
                      <a:pt x="758758" y="355600"/>
                      <a:pt x="907915" y="291830"/>
                    </a:cubicBezTo>
                    <a:cubicBezTo>
                      <a:pt x="1057073" y="228060"/>
                      <a:pt x="1226766" y="47557"/>
                      <a:pt x="1271081" y="0"/>
                    </a:cubicBezTo>
                  </a:path>
                </a:pathLst>
              </a:custGeom>
              <a:noFill/>
              <a:ln>
                <a:solidFill>
                  <a:srgbClr val="B227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3D3836B0-7665-56AE-15D5-7EEDFD3A547A}"/>
                </a:ext>
              </a:extLst>
            </p:cNvPr>
            <p:cNvSpPr txBox="1"/>
            <p:nvPr/>
          </p:nvSpPr>
          <p:spPr>
            <a:xfrm>
              <a:off x="763600" y="5444828"/>
              <a:ext cx="1076527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 err="1">
                  <a:latin typeface="Century Gothic" panose="020B0502020202020204" pitchFamily="34" charset="0"/>
                </a:rPr>
                <a:t>Variance</a:t>
              </a:r>
              <a:r>
                <a:rPr lang="pt-BR" sz="1200" dirty="0">
                  <a:latin typeface="Century Gothic" panose="020B0502020202020204" pitchFamily="34" charset="0"/>
                </a:rPr>
                <a:t> must </a:t>
              </a:r>
              <a:r>
                <a:rPr lang="pt-BR" sz="1200" dirty="0" err="1">
                  <a:latin typeface="Century Gothic" panose="020B0502020202020204" pitchFamily="34" charset="0"/>
                </a:rPr>
                <a:t>be</a:t>
              </a:r>
              <a:r>
                <a:rPr lang="pt-BR" sz="1200" dirty="0">
                  <a:latin typeface="Century Gothic" panose="020B0502020202020204" pitchFamily="34" charset="0"/>
                </a:rPr>
                <a:t> </a:t>
              </a:r>
              <a:r>
                <a:rPr lang="pt-BR" sz="1200" dirty="0" err="1">
                  <a:latin typeface="Century Gothic" panose="020B0502020202020204" pitchFamily="34" charset="0"/>
                </a:rPr>
                <a:t>constant</a:t>
              </a:r>
              <a:endParaRPr lang="pt-BR" sz="1200" dirty="0">
                <a:latin typeface="Century Gothic" panose="020B0502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CFE398C-987A-255B-54F5-CFEA03FC004F}"/>
                </a:ext>
              </a:extLst>
            </p:cNvPr>
            <p:cNvSpPr txBox="1"/>
            <p:nvPr/>
          </p:nvSpPr>
          <p:spPr>
            <a:xfrm>
              <a:off x="4109102" y="5444828"/>
              <a:ext cx="1160833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 err="1">
                  <a:latin typeface="Century Gothic" panose="020B0502020202020204" pitchFamily="34" charset="0"/>
                </a:rPr>
                <a:t>Can’t</a:t>
              </a:r>
              <a:r>
                <a:rPr lang="pt-BR" sz="1200" dirty="0">
                  <a:latin typeface="Century Gothic" panose="020B0502020202020204" pitchFamily="34" charset="0"/>
                </a:rPr>
                <a:t> </a:t>
              </a:r>
              <a:r>
                <a:rPr lang="pt-BR" sz="1200" dirty="0" err="1">
                  <a:latin typeface="Century Gothic" panose="020B0502020202020204" pitchFamily="34" charset="0"/>
                </a:rPr>
                <a:t>present</a:t>
              </a:r>
              <a:r>
                <a:rPr lang="pt-BR" sz="1200" dirty="0">
                  <a:latin typeface="Century Gothic" panose="020B0502020202020204" pitchFamily="34" charset="0"/>
                </a:rPr>
                <a:t> </a:t>
              </a:r>
              <a:r>
                <a:rPr lang="pt-BR" sz="1200" dirty="0" err="1">
                  <a:latin typeface="Century Gothic" panose="020B0502020202020204" pitchFamily="34" charset="0"/>
                </a:rPr>
                <a:t>seasonalities</a:t>
              </a:r>
              <a:endParaRPr lang="pt-BR" sz="1200" dirty="0">
                <a:latin typeface="Century Gothic" panose="020B0502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581C654C-2FA8-17B5-D041-FF1A2189AF1A}"/>
                </a:ext>
              </a:extLst>
            </p:cNvPr>
            <p:cNvSpPr txBox="1"/>
            <p:nvPr/>
          </p:nvSpPr>
          <p:spPr>
            <a:xfrm>
              <a:off x="7474103" y="5537161"/>
              <a:ext cx="1160833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1200" dirty="0" err="1">
                  <a:latin typeface="Century Gothic" panose="020B0502020202020204" pitchFamily="34" charset="0"/>
                </a:rPr>
                <a:t>Mean</a:t>
              </a:r>
              <a:r>
                <a:rPr lang="pt-BR" sz="1200" dirty="0">
                  <a:latin typeface="Century Gothic" panose="020B0502020202020204" pitchFamily="34" charset="0"/>
                </a:rPr>
                <a:t> must </a:t>
              </a:r>
              <a:r>
                <a:rPr lang="pt-BR" sz="1200" dirty="0" err="1">
                  <a:latin typeface="Century Gothic" panose="020B0502020202020204" pitchFamily="34" charset="0"/>
                </a:rPr>
                <a:t>be</a:t>
              </a:r>
              <a:r>
                <a:rPr lang="pt-BR" sz="1200" dirty="0">
                  <a:latin typeface="Century Gothic" panose="020B0502020202020204" pitchFamily="34" charset="0"/>
                </a:rPr>
                <a:t> </a:t>
              </a:r>
              <a:r>
                <a:rPr lang="pt-BR" sz="1200" dirty="0" err="1">
                  <a:latin typeface="Century Gothic" panose="020B0502020202020204" pitchFamily="34" charset="0"/>
                </a:rPr>
                <a:t>constant</a:t>
              </a:r>
              <a:endParaRPr lang="pt-BR" sz="12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F1B52B4-B162-393A-284C-2DD60F6DC39B}"/>
              </a:ext>
            </a:extLst>
          </p:cNvPr>
          <p:cNvSpPr txBox="1"/>
          <p:nvPr/>
        </p:nvSpPr>
        <p:spPr>
          <a:xfrm>
            <a:off x="9569450" y="1292971"/>
            <a:ext cx="14934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100" b="0" i="0" dirty="0">
                <a:effectLst/>
                <a:latin typeface="Century Gothic" panose="020B0502020202020204" pitchFamily="34" charset="0"/>
              </a:rPr>
              <a:t>ADF </a:t>
            </a:r>
            <a:r>
              <a:rPr lang="pt-BR" sz="1100" b="0" i="0" dirty="0" err="1">
                <a:effectLst/>
                <a:latin typeface="Century Gothic" panose="020B0502020202020204" pitchFamily="34" charset="0"/>
              </a:rPr>
              <a:t>Statistic</a:t>
            </a:r>
            <a:r>
              <a:rPr lang="pt-BR" sz="1100" b="0" i="0" dirty="0">
                <a:effectLst/>
                <a:latin typeface="Century Gothic" panose="020B0502020202020204" pitchFamily="34" charset="0"/>
              </a:rPr>
              <a:t>: -69.42</a:t>
            </a:r>
            <a:endParaRPr lang="pt-BR" sz="1100" dirty="0">
              <a:latin typeface="Century Gothic" panose="020B0502020202020204" pitchFamily="34" charset="0"/>
            </a:endParaRPr>
          </a:p>
        </p:txBody>
      </p:sp>
      <p:sp>
        <p:nvSpPr>
          <p:cNvPr id="2" name="Sinal de Multiplicação 1">
            <a:extLst>
              <a:ext uri="{FF2B5EF4-FFF2-40B4-BE49-F238E27FC236}">
                <a16:creationId xmlns:a16="http://schemas.microsoft.com/office/drawing/2014/main" id="{9EA7A39A-5760-89A3-3360-7B654CA8443B}"/>
              </a:ext>
            </a:extLst>
          </p:cNvPr>
          <p:cNvSpPr/>
          <p:nvPr/>
        </p:nvSpPr>
        <p:spPr>
          <a:xfrm>
            <a:off x="3473710" y="5019888"/>
            <a:ext cx="535577" cy="582353"/>
          </a:xfrm>
          <a:prstGeom prst="mathMultiply">
            <a:avLst>
              <a:gd name="adj1" fmla="val 459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inal de Multiplicação 3">
            <a:extLst>
              <a:ext uri="{FF2B5EF4-FFF2-40B4-BE49-F238E27FC236}">
                <a16:creationId xmlns:a16="http://schemas.microsoft.com/office/drawing/2014/main" id="{FC8D16B1-AD80-4643-CDF3-AE28D2E1EBBD}"/>
              </a:ext>
            </a:extLst>
          </p:cNvPr>
          <p:cNvSpPr/>
          <p:nvPr/>
        </p:nvSpPr>
        <p:spPr>
          <a:xfrm>
            <a:off x="6849463" y="5019888"/>
            <a:ext cx="535577" cy="582353"/>
          </a:xfrm>
          <a:prstGeom prst="mathMultiply">
            <a:avLst>
              <a:gd name="adj1" fmla="val 459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90943FF0-130C-97BF-70B3-BCFB5F66508D}"/>
              </a:ext>
            </a:extLst>
          </p:cNvPr>
          <p:cNvSpPr/>
          <p:nvPr/>
        </p:nvSpPr>
        <p:spPr>
          <a:xfrm>
            <a:off x="10235375" y="5022969"/>
            <a:ext cx="535577" cy="582353"/>
          </a:xfrm>
          <a:prstGeom prst="mathMultiply">
            <a:avLst>
              <a:gd name="adj1" fmla="val 459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E4A4A6-CD86-BE05-BF36-ECEC9B37A862}"/>
              </a:ext>
            </a:extLst>
          </p:cNvPr>
          <p:cNvSpPr txBox="1"/>
          <p:nvPr/>
        </p:nvSpPr>
        <p:spPr>
          <a:xfrm>
            <a:off x="9230561" y="6308109"/>
            <a:ext cx="1878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0" i="0" dirty="0" err="1">
                <a:effectLst/>
                <a:latin typeface="Century Gothic" panose="020B0502020202020204" pitchFamily="34" charset="0"/>
              </a:rPr>
              <a:t>Addapted</a:t>
            </a:r>
            <a:r>
              <a:rPr lang="pt-BR" sz="11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pt-BR" sz="1100" b="0" i="0" dirty="0" err="1">
                <a:effectLst/>
                <a:latin typeface="Century Gothic" panose="020B0502020202020204" pitchFamily="34" charset="0"/>
              </a:rPr>
              <a:t>from</a:t>
            </a:r>
            <a:r>
              <a:rPr lang="pt-BR" sz="1100" b="0" i="0" dirty="0">
                <a:effectLst/>
                <a:latin typeface="Century Gothic" panose="020B0502020202020204" pitchFamily="34" charset="0"/>
              </a:rPr>
              <a:t> [4]</a:t>
            </a:r>
            <a:endParaRPr lang="pt-BR" sz="1100" dirty="0">
              <a:latin typeface="Century Gothic" panose="020B0502020202020204" pitchFamily="34" charset="0"/>
            </a:endParaRPr>
          </a:p>
        </p:txBody>
      </p:sp>
      <p:pic>
        <p:nvPicPr>
          <p:cNvPr id="18" name="Gráfico 17" descr="Marca de seleção com preenchimento sólido">
            <a:extLst>
              <a:ext uri="{FF2B5EF4-FFF2-40B4-BE49-F238E27FC236}">
                <a16:creationId xmlns:a16="http://schemas.microsoft.com/office/drawing/2014/main" id="{E3A8B549-B765-947D-2B6A-1BBF558CD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3791" y="5888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94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AF50CFE0-27ED-D6D7-546C-E88A25AF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817000"/>
            <a:ext cx="5431370" cy="387955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F1C61-7D1D-D307-DEBC-47CFA506BDCC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Exploratory</a:t>
            </a:r>
            <a:r>
              <a:rPr lang="pt-BR" sz="3600" dirty="0">
                <a:latin typeface="Century Gothic" panose="020B0502020202020204" pitchFamily="34" charset="0"/>
              </a:rPr>
              <a:t> Data </a:t>
            </a:r>
            <a:r>
              <a:rPr lang="pt-BR" sz="3600" dirty="0" err="1">
                <a:latin typeface="Century Gothic" panose="020B0502020202020204" pitchFamily="34" charset="0"/>
              </a:rPr>
              <a:t>Analysis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D18E55-0FE8-CCA3-83F2-7AFA7E83E3A0}"/>
              </a:ext>
            </a:extLst>
          </p:cNvPr>
          <p:cNvSpPr txBox="1"/>
          <p:nvPr/>
        </p:nvSpPr>
        <p:spPr>
          <a:xfrm>
            <a:off x="7467600" y="5501801"/>
            <a:ext cx="388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 err="1">
                <a:latin typeface="Century Gothic" panose="020B0502020202020204" pitchFamily="34" charset="0"/>
              </a:rPr>
              <a:t>Addapted</a:t>
            </a:r>
            <a:r>
              <a:rPr lang="pt-BR" sz="1050" dirty="0">
                <a:latin typeface="Century Gothic" panose="020B0502020202020204" pitchFamily="34" charset="0"/>
              </a:rPr>
              <a:t> </a:t>
            </a:r>
            <a:r>
              <a:rPr lang="pt-BR" sz="1050" dirty="0" err="1">
                <a:latin typeface="Century Gothic" panose="020B0502020202020204" pitchFamily="34" charset="0"/>
              </a:rPr>
              <a:t>from</a:t>
            </a:r>
            <a:r>
              <a:rPr lang="pt-BR" sz="1050" dirty="0">
                <a:latin typeface="Century Gothic" panose="020B0502020202020204" pitchFamily="34" charset="0"/>
              </a:rPr>
              <a:t> [1]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10</a:t>
            </a:fld>
            <a:endParaRPr lang="pt-BR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A3F428F-2E80-CABE-6DA3-77F9880E4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140" y="1791000"/>
            <a:ext cx="5431370" cy="387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9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F1C61-7D1D-D307-DEBC-47CFA506BDCC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Exploratory</a:t>
            </a:r>
            <a:r>
              <a:rPr lang="pt-BR" sz="3600" dirty="0">
                <a:latin typeface="Century Gothic" panose="020B0502020202020204" pitchFamily="34" charset="0"/>
              </a:rPr>
              <a:t> Data </a:t>
            </a:r>
            <a:r>
              <a:rPr lang="pt-BR" sz="3600" dirty="0" err="1">
                <a:latin typeface="Century Gothic" panose="020B0502020202020204" pitchFamily="34" charset="0"/>
              </a:rPr>
              <a:t>Analysis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90401D-8170-ED69-7D6A-94BDFC413350}"/>
              </a:ext>
            </a:extLst>
          </p:cNvPr>
          <p:cNvSpPr txBox="1"/>
          <p:nvPr/>
        </p:nvSpPr>
        <p:spPr>
          <a:xfrm>
            <a:off x="885825" y="866273"/>
            <a:ext cx="445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Sample rate: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11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43F4D5F-B00D-CA13-96AD-3E4FC8BBB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2331" y="1386966"/>
            <a:ext cx="8743627" cy="52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2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F1C61-7D1D-D307-DEBC-47CFA506BDCC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Exploratory</a:t>
            </a:r>
            <a:r>
              <a:rPr lang="pt-BR" sz="3600" dirty="0">
                <a:latin typeface="Century Gothic" panose="020B0502020202020204" pitchFamily="34" charset="0"/>
              </a:rPr>
              <a:t> Data </a:t>
            </a:r>
            <a:r>
              <a:rPr lang="pt-BR" sz="3600" dirty="0" err="1">
                <a:latin typeface="Century Gothic" panose="020B0502020202020204" pitchFamily="34" charset="0"/>
              </a:rPr>
              <a:t>Analysis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90401D-8170-ED69-7D6A-94BDFC413350}"/>
              </a:ext>
            </a:extLst>
          </p:cNvPr>
          <p:cNvSpPr txBox="1"/>
          <p:nvPr/>
        </p:nvSpPr>
        <p:spPr>
          <a:xfrm>
            <a:off x="885825" y="866273"/>
            <a:ext cx="445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Sample rate: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12</a:t>
            </a:fld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8D3D867-D3F1-068A-0854-6816133E6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747" y="1912714"/>
            <a:ext cx="10972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81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Agenda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012AD0-5B39-5599-DAF1-A357C58991EE}"/>
              </a:ext>
            </a:extLst>
          </p:cNvPr>
          <p:cNvSpPr txBox="1"/>
          <p:nvPr/>
        </p:nvSpPr>
        <p:spPr>
          <a:xfrm>
            <a:off x="786388" y="1735375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01 </a:t>
            </a:r>
            <a:r>
              <a:rPr lang="pt-BR" dirty="0" err="1"/>
              <a:t>Introduction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6DE4DB-C2AE-1E84-6505-4C9FA00E10D9}"/>
              </a:ext>
            </a:extLst>
          </p:cNvPr>
          <p:cNvSpPr/>
          <p:nvPr/>
        </p:nvSpPr>
        <p:spPr>
          <a:xfrm>
            <a:off x="0" y="210470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9ED4B2-76FA-BFEF-2875-742F449B2822}"/>
              </a:ext>
            </a:extLst>
          </p:cNvPr>
          <p:cNvSpPr txBox="1"/>
          <p:nvPr/>
        </p:nvSpPr>
        <p:spPr>
          <a:xfrm>
            <a:off x="786388" y="2509706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02 </a:t>
            </a:r>
            <a:r>
              <a:rPr lang="pt-BR" dirty="0" err="1"/>
              <a:t>Literature</a:t>
            </a:r>
            <a:r>
              <a:rPr lang="pt-BR" dirty="0"/>
              <a:t> Review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9A752D-18AA-AB5D-274D-A064C6D55636}"/>
              </a:ext>
            </a:extLst>
          </p:cNvPr>
          <p:cNvSpPr txBox="1"/>
          <p:nvPr/>
        </p:nvSpPr>
        <p:spPr>
          <a:xfrm>
            <a:off x="786388" y="3284037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03 </a:t>
            </a:r>
            <a:r>
              <a:rPr lang="pt-BR" dirty="0" err="1"/>
              <a:t>Exploratory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BC8A3F-1097-AC17-36F2-2902AE9886AE}"/>
              </a:ext>
            </a:extLst>
          </p:cNvPr>
          <p:cNvSpPr txBox="1"/>
          <p:nvPr/>
        </p:nvSpPr>
        <p:spPr>
          <a:xfrm>
            <a:off x="786388" y="4058368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04 </a:t>
            </a:r>
            <a:r>
              <a:rPr lang="pt-BR" dirty="0" err="1"/>
              <a:t>Results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6F9C2C-CF5C-7F58-34BA-12DBCB49AEC8}"/>
              </a:ext>
            </a:extLst>
          </p:cNvPr>
          <p:cNvSpPr/>
          <p:nvPr/>
        </p:nvSpPr>
        <p:spPr>
          <a:xfrm>
            <a:off x="0" y="2882371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5EFA8B4-D3E5-1A64-FF89-B3B354F17B0D}"/>
              </a:ext>
            </a:extLst>
          </p:cNvPr>
          <p:cNvSpPr/>
          <p:nvPr/>
        </p:nvSpPr>
        <p:spPr>
          <a:xfrm>
            <a:off x="0" y="36600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FFEE37-9BFE-3A8A-6E98-B41475AC1300}"/>
              </a:ext>
            </a:extLst>
          </p:cNvPr>
          <p:cNvSpPr/>
          <p:nvPr/>
        </p:nvSpPr>
        <p:spPr>
          <a:xfrm>
            <a:off x="0" y="4458742"/>
            <a:ext cx="2133600" cy="36000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0046D-9C92-4C70-C6D1-63791C0D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13</a:t>
            </a:fld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C8E5675-BC22-D261-5A9A-17B21A984F28}"/>
              </a:ext>
            </a:extLst>
          </p:cNvPr>
          <p:cNvSpPr/>
          <p:nvPr/>
        </p:nvSpPr>
        <p:spPr>
          <a:xfrm>
            <a:off x="0" y="52616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597374C-B473-C75C-3225-8408F6875CD4}"/>
              </a:ext>
            </a:extLst>
          </p:cNvPr>
          <p:cNvSpPr txBox="1"/>
          <p:nvPr/>
        </p:nvSpPr>
        <p:spPr>
          <a:xfrm>
            <a:off x="786388" y="4835732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05 Next Steps</a:t>
            </a:r>
          </a:p>
        </p:txBody>
      </p:sp>
    </p:spTree>
    <p:extLst>
      <p:ext uri="{BB962C8B-B14F-4D97-AF65-F5344CB8AC3E}">
        <p14:creationId xmlns:p14="http://schemas.microsoft.com/office/powerpoint/2010/main" val="140097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14</a:t>
            </a:fld>
            <a:endParaRPr lang="pt-BR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F4F5CE7-645E-F836-EFBF-38F0BBE4F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6280" y="1317042"/>
            <a:ext cx="7818120" cy="547268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A8662B-FCA7-21C7-A621-1058109F8FD6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Data </a:t>
            </a:r>
            <a:r>
              <a:rPr lang="pt-BR" sz="3600" dirty="0" err="1">
                <a:latin typeface="Century Gothic" panose="020B0502020202020204" pitchFamily="34" charset="0"/>
              </a:rPr>
              <a:t>Treatment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133258-B963-F3B1-1EA6-F13C15CE942F}"/>
              </a:ext>
            </a:extLst>
          </p:cNvPr>
          <p:cNvSpPr txBox="1"/>
          <p:nvPr/>
        </p:nvSpPr>
        <p:spPr>
          <a:xfrm>
            <a:off x="885825" y="866273"/>
            <a:ext cx="445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Cross-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validation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– Time series split:</a:t>
            </a:r>
          </a:p>
        </p:txBody>
      </p:sp>
    </p:spTree>
    <p:extLst>
      <p:ext uri="{BB962C8B-B14F-4D97-AF65-F5344CB8AC3E}">
        <p14:creationId xmlns:p14="http://schemas.microsoft.com/office/powerpoint/2010/main" val="832822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66E4C402-CC8E-42D1-FEF6-4BD4E4302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52" y="1478264"/>
            <a:ext cx="5077509" cy="423125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F1C61-7D1D-D307-DEBC-47CFA506BDCC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Baseline Model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90401D-8170-ED69-7D6A-94BDFC413350}"/>
              </a:ext>
            </a:extLst>
          </p:cNvPr>
          <p:cNvSpPr txBox="1"/>
          <p:nvPr/>
        </p:nvSpPr>
        <p:spPr>
          <a:xfrm>
            <a:off x="885825" y="866273"/>
            <a:ext cx="445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Using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High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Correlation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Variable: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222C22E-DBD0-64C0-8ACE-160ACAC66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15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EDA63A6-287C-2C64-0E3E-782A0C3A1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6585" y="1473681"/>
            <a:ext cx="8452632" cy="422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43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F1C61-7D1D-D307-DEBC-47CFA506BDCC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Models </a:t>
            </a:r>
            <a:r>
              <a:rPr lang="pt-BR" sz="3600" dirty="0" err="1">
                <a:latin typeface="Century Gothic" panose="020B0502020202020204" pitchFamily="34" charset="0"/>
              </a:rPr>
              <a:t>Results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655999-A501-FD4A-363D-C015187EACBD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50BBFD-8DD2-15BD-1BB6-E68E608AD2B0}"/>
              </a:ext>
            </a:extLst>
          </p:cNvPr>
          <p:cNvSpPr txBox="1"/>
          <p:nvPr/>
        </p:nvSpPr>
        <p:spPr>
          <a:xfrm>
            <a:off x="885825" y="866273"/>
            <a:ext cx="5935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Attempts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without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‘%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Silica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C.’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and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‘% Iron C.’: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224F178-50E4-B70B-9383-A6B2AB5D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16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5C75326-8267-23E0-DF73-FBAF3B808795}"/>
              </a:ext>
            </a:extLst>
          </p:cNvPr>
          <p:cNvSpPr txBox="1"/>
          <p:nvPr/>
        </p:nvSpPr>
        <p:spPr>
          <a:xfrm>
            <a:off x="292132" y="1803787"/>
            <a:ext cx="59351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Alternatives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tested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</a:rPr>
              <a:t>:</a:t>
            </a:r>
          </a:p>
          <a:p>
            <a:endParaRPr lang="pt-BR" sz="2000" b="1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pt-BR" sz="2000" dirty="0">
                <a:latin typeface="Century Gothic" panose="020B0502020202020204" pitchFamily="34" charset="0"/>
              </a:rPr>
              <a:t>Models </a:t>
            </a:r>
            <a:r>
              <a:rPr lang="pt-BR" sz="2000" dirty="0" err="1">
                <a:latin typeface="Century Gothic" panose="020B0502020202020204" pitchFamily="34" charset="0"/>
              </a:rPr>
              <a:t>without</a:t>
            </a:r>
            <a:r>
              <a:rPr lang="pt-BR" sz="2000" dirty="0">
                <a:latin typeface="Century Gothic" panose="020B0502020202020204" pitchFamily="34" charset="0"/>
              </a:rPr>
              <a:t> Standard </a:t>
            </a:r>
            <a:r>
              <a:rPr lang="pt-BR" sz="2000" dirty="0" err="1">
                <a:latin typeface="Century Gothic" panose="020B0502020202020204" pitchFamily="34" charset="0"/>
              </a:rPr>
              <a:t>Scaler</a:t>
            </a:r>
            <a:r>
              <a:rPr lang="pt-BR" sz="2000" dirty="0">
                <a:latin typeface="Century Gothic" panose="020B0502020202020204" pitchFamily="34" charset="0"/>
              </a:rPr>
              <a:t> </a:t>
            </a:r>
            <a:r>
              <a:rPr lang="pt-BR" sz="2000" dirty="0" err="1">
                <a:latin typeface="Century Gothic" panose="020B0502020202020204" pitchFamily="34" charset="0"/>
              </a:rPr>
              <a:t>and</a:t>
            </a:r>
            <a:r>
              <a:rPr lang="pt-BR" sz="2000" dirty="0">
                <a:latin typeface="Century Gothic" panose="020B0502020202020204" pitchFamily="34" charset="0"/>
              </a:rPr>
              <a:t> PCA;</a:t>
            </a:r>
          </a:p>
          <a:p>
            <a:pPr marL="342900" indent="-342900">
              <a:buFontTx/>
              <a:buChar char="-"/>
            </a:pPr>
            <a:r>
              <a:rPr lang="pt-BR" sz="2000" dirty="0">
                <a:latin typeface="Century Gothic" panose="020B0502020202020204" pitchFamily="34" charset="0"/>
              </a:rPr>
              <a:t>Ensemble (Random Forest &amp; XGB);</a:t>
            </a:r>
          </a:p>
          <a:p>
            <a:pPr marL="342900" indent="-342900">
              <a:buFontTx/>
              <a:buChar char="-"/>
            </a:pPr>
            <a:r>
              <a:rPr lang="pt-BR" sz="2000" dirty="0">
                <a:latin typeface="Century Gothic" panose="020B0502020202020204" pitchFamily="34" charset="0"/>
              </a:rPr>
              <a:t>LSTM;</a:t>
            </a:r>
          </a:p>
          <a:p>
            <a:pPr marL="342900" indent="-342900">
              <a:buFontTx/>
              <a:buChar char="-"/>
            </a:pPr>
            <a:r>
              <a:rPr lang="pt-BR" sz="2000" dirty="0" err="1">
                <a:latin typeface="Century Gothic" panose="020B0502020202020204" pitchFamily="34" charset="0"/>
              </a:rPr>
              <a:t>Conventional</a:t>
            </a:r>
            <a:r>
              <a:rPr lang="pt-BR" sz="2000" dirty="0">
                <a:latin typeface="Century Gothic" panose="020B0502020202020204" pitchFamily="34" charset="0"/>
              </a:rPr>
              <a:t> </a:t>
            </a:r>
            <a:r>
              <a:rPr lang="pt-BR" sz="2000" dirty="0" err="1">
                <a:latin typeface="Century Gothic" panose="020B0502020202020204" pitchFamily="34" charset="0"/>
              </a:rPr>
              <a:t>train</a:t>
            </a:r>
            <a:r>
              <a:rPr lang="pt-BR" sz="2000" dirty="0">
                <a:latin typeface="Century Gothic" panose="020B0502020202020204" pitchFamily="34" charset="0"/>
              </a:rPr>
              <a:t> </a:t>
            </a:r>
            <a:r>
              <a:rPr lang="pt-BR" sz="2000" dirty="0" err="1">
                <a:latin typeface="Century Gothic" panose="020B0502020202020204" pitchFamily="34" charset="0"/>
              </a:rPr>
              <a:t>test</a:t>
            </a:r>
            <a:r>
              <a:rPr lang="pt-BR" sz="2000" dirty="0">
                <a:latin typeface="Century Gothic" panose="020B0502020202020204" pitchFamily="34" charset="0"/>
              </a:rPr>
              <a:t> split;</a:t>
            </a:r>
          </a:p>
          <a:p>
            <a:pPr marL="342900" indent="-342900">
              <a:buFontTx/>
              <a:buChar char="-"/>
            </a:pPr>
            <a:r>
              <a:rPr lang="pt-BR" sz="2000" dirty="0" err="1">
                <a:latin typeface="Century Gothic" panose="020B0502020202020204" pitchFamily="34" charset="0"/>
              </a:rPr>
              <a:t>Without</a:t>
            </a:r>
            <a:r>
              <a:rPr lang="pt-BR" sz="2000" dirty="0">
                <a:latin typeface="Century Gothic" panose="020B0502020202020204" pitchFamily="34" charset="0"/>
              </a:rPr>
              <a:t> </a:t>
            </a:r>
            <a:r>
              <a:rPr lang="pt-BR" sz="2000" dirty="0" err="1">
                <a:latin typeface="Century Gothic" panose="020B0502020202020204" pitchFamily="34" charset="0"/>
              </a:rPr>
              <a:t>resampling</a:t>
            </a:r>
            <a:r>
              <a:rPr lang="pt-BR" sz="2000" dirty="0">
                <a:latin typeface="Century Gothic" panose="020B0502020202020204" pitchFamily="34" charset="0"/>
              </a:rPr>
              <a:t> </a:t>
            </a:r>
            <a:r>
              <a:rPr lang="pt-BR" sz="2000" dirty="0" err="1">
                <a:latin typeface="Century Gothic" panose="020B0502020202020204" pitchFamily="34" charset="0"/>
              </a:rPr>
              <a:t>the</a:t>
            </a:r>
            <a:r>
              <a:rPr lang="pt-BR" sz="2000" dirty="0">
                <a:latin typeface="Century Gothic" panose="020B0502020202020204" pitchFamily="34" charset="0"/>
              </a:rPr>
              <a:t> </a:t>
            </a:r>
            <a:r>
              <a:rPr lang="pt-BR" sz="2000" dirty="0" err="1">
                <a:latin typeface="Century Gothic" panose="020B0502020202020204" pitchFamily="34" charset="0"/>
              </a:rPr>
              <a:t>dataset</a:t>
            </a:r>
            <a:r>
              <a:rPr lang="pt-BR" sz="2000" dirty="0">
                <a:latin typeface="Century Gothic" panose="020B0502020202020204" pitchFamily="34" charset="0"/>
              </a:rPr>
              <a:t>;</a:t>
            </a:r>
          </a:p>
          <a:p>
            <a:pPr marL="342900" indent="-342900">
              <a:buFontTx/>
              <a:buChar char="-"/>
            </a:pPr>
            <a:r>
              <a:rPr lang="pt-BR" sz="2000" dirty="0" err="1">
                <a:latin typeface="Century Gothic" panose="020B0502020202020204" pitchFamily="34" charset="0"/>
              </a:rPr>
              <a:t>Many</a:t>
            </a:r>
            <a:r>
              <a:rPr lang="pt-BR" sz="2000" dirty="0">
                <a:latin typeface="Century Gothic" panose="020B0502020202020204" pitchFamily="34" charset="0"/>
              </a:rPr>
              <a:t> </a:t>
            </a:r>
            <a:r>
              <a:rPr lang="pt-BR" sz="2000" dirty="0" err="1">
                <a:latin typeface="Century Gothic" panose="020B0502020202020204" pitchFamily="34" charset="0"/>
              </a:rPr>
              <a:t>others</a:t>
            </a:r>
            <a:r>
              <a:rPr lang="pt-BR" sz="2000" dirty="0">
                <a:latin typeface="Century Gothic" panose="020B0502020202020204" pitchFamily="34" charset="0"/>
              </a:rPr>
              <a:t>... 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596C0F9-C8D8-9681-AF8F-F8F406B9581B}"/>
              </a:ext>
            </a:extLst>
          </p:cNvPr>
          <p:cNvGrpSpPr/>
          <p:nvPr/>
        </p:nvGrpSpPr>
        <p:grpSpPr>
          <a:xfrm>
            <a:off x="7588775" y="3985271"/>
            <a:ext cx="4515818" cy="2611739"/>
            <a:chOff x="7676182" y="-9066"/>
            <a:chExt cx="4515818" cy="2611739"/>
          </a:xfrm>
        </p:grpSpPr>
        <p:pic>
          <p:nvPicPr>
            <p:cNvPr id="12" name="Imagem 11" descr="Gráfico, Gráfico de linhas&#10;&#10;O conteúdo gerado por IA pode estar incorreto.">
              <a:extLst>
                <a:ext uri="{FF2B5EF4-FFF2-40B4-BE49-F238E27FC236}">
                  <a16:creationId xmlns:a16="http://schemas.microsoft.com/office/drawing/2014/main" id="{CA7C95C7-D96A-B58D-100A-9589B9CB3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676182" y="290953"/>
              <a:ext cx="4515818" cy="231172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631AA245-DCA2-0C3F-9295-F3AE6FCF6342}"/>
                </a:ext>
              </a:extLst>
            </p:cNvPr>
            <p:cNvSpPr txBox="1"/>
            <p:nvPr/>
          </p:nvSpPr>
          <p:spPr>
            <a:xfrm>
              <a:off x="7961152" y="-9066"/>
              <a:ext cx="40560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rPr>
                <a:t>LSTM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F53D36B-9E40-E14B-B3B4-FC554760190C}"/>
              </a:ext>
            </a:extLst>
          </p:cNvPr>
          <p:cNvGrpSpPr/>
          <p:nvPr/>
        </p:nvGrpSpPr>
        <p:grpSpPr>
          <a:xfrm>
            <a:off x="7613942" y="1441817"/>
            <a:ext cx="4341004" cy="2639140"/>
            <a:chOff x="7676182" y="2418744"/>
            <a:chExt cx="4341004" cy="2639140"/>
          </a:xfrm>
        </p:grpSpPr>
        <p:pic>
          <p:nvPicPr>
            <p:cNvPr id="21" name="Imagem 20" descr="Gráfico, Gráfico de linhas&#10;&#10;O conteúdo gerado por IA pode estar incorreto.">
              <a:extLst>
                <a:ext uri="{FF2B5EF4-FFF2-40B4-BE49-F238E27FC236}">
                  <a16:creationId xmlns:a16="http://schemas.microsoft.com/office/drawing/2014/main" id="{2011BF4C-1D87-20A4-782D-FF101884C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76182" y="2717403"/>
              <a:ext cx="4341004" cy="2340481"/>
            </a:xfrm>
            <a:prstGeom prst="rect">
              <a:avLst/>
            </a:prstGeom>
          </p:spPr>
        </p:pic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330C130-32DB-3991-A3C0-15B560E71042}"/>
                </a:ext>
              </a:extLst>
            </p:cNvPr>
            <p:cNvSpPr txBox="1"/>
            <p:nvPr/>
          </p:nvSpPr>
          <p:spPr>
            <a:xfrm>
              <a:off x="7906074" y="2418744"/>
              <a:ext cx="40560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rPr>
                <a:t>Random Forest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4FABCDA-20D6-41A3-340E-C592508BD4D7}"/>
              </a:ext>
            </a:extLst>
          </p:cNvPr>
          <p:cNvGrpSpPr/>
          <p:nvPr/>
        </p:nvGrpSpPr>
        <p:grpSpPr>
          <a:xfrm>
            <a:off x="7714354" y="22820"/>
            <a:ext cx="4223814" cy="1427053"/>
            <a:chOff x="7793373" y="5006651"/>
            <a:chExt cx="4223814" cy="1427053"/>
          </a:xfrm>
        </p:grpSpPr>
        <p:pic>
          <p:nvPicPr>
            <p:cNvPr id="17" name="Imagem 16" descr="Uma imagem contendo objeto, antena, mesa, fileira&#10;&#10;O conteúdo gerado por IA pode estar incorreto.">
              <a:extLst>
                <a:ext uri="{FF2B5EF4-FFF2-40B4-BE49-F238E27FC236}">
                  <a16:creationId xmlns:a16="http://schemas.microsoft.com/office/drawing/2014/main" id="{C271AC12-1CA0-DC38-64F8-A8149126F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3373" y="5377479"/>
              <a:ext cx="4223814" cy="1056225"/>
            </a:xfrm>
            <a:prstGeom prst="rect">
              <a:avLst/>
            </a:prstGeom>
          </p:spPr>
        </p:pic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CB32E22-6CD3-5A6B-BACC-A6575BD8168C}"/>
                </a:ext>
              </a:extLst>
            </p:cNvPr>
            <p:cNvSpPr txBox="1"/>
            <p:nvPr/>
          </p:nvSpPr>
          <p:spPr>
            <a:xfrm>
              <a:off x="7877263" y="5006651"/>
              <a:ext cx="40560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rPr>
                <a:t>First</a:t>
              </a:r>
              <a:r>
                <a:rPr lang="pt-BR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rPr>
                <a:t> Model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14C1936-8B40-FF0D-6339-02177D112567}"/>
              </a:ext>
            </a:extLst>
          </p:cNvPr>
          <p:cNvSpPr txBox="1"/>
          <p:nvPr/>
        </p:nvSpPr>
        <p:spPr>
          <a:xfrm>
            <a:off x="7914890" y="4338785"/>
            <a:ext cx="934073" cy="46166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>
                <a:latin typeface="Century Gothic" panose="020B0502020202020204" pitchFamily="34" charset="0"/>
              </a:defRPr>
            </a:lvl1pPr>
          </a:lstStyle>
          <a:p>
            <a:r>
              <a:rPr lang="pt-BR" sz="1200" dirty="0"/>
              <a:t>MAE: 0.56</a:t>
            </a:r>
          </a:p>
          <a:p>
            <a:r>
              <a:rPr lang="pt-BR" sz="1200" dirty="0"/>
              <a:t>R2: -0.19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08527DE-82C6-119C-8E1D-66300461DEF2}"/>
              </a:ext>
            </a:extLst>
          </p:cNvPr>
          <p:cNvSpPr txBox="1"/>
          <p:nvPr/>
        </p:nvSpPr>
        <p:spPr>
          <a:xfrm>
            <a:off x="7881111" y="1799487"/>
            <a:ext cx="967852" cy="46166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entury Gothic" panose="020B0502020202020204" pitchFamily="34" charset="0"/>
              </a:rPr>
              <a:t>MAE: 0.95</a:t>
            </a:r>
          </a:p>
          <a:p>
            <a:r>
              <a:rPr lang="pt-BR" sz="1200" dirty="0">
                <a:latin typeface="Century Gothic" panose="020B0502020202020204" pitchFamily="34" charset="0"/>
              </a:rPr>
              <a:t>R2: -0.06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58B948C-67F1-C2CD-094C-A6BC31AC1FB4}"/>
              </a:ext>
            </a:extLst>
          </p:cNvPr>
          <p:cNvSpPr txBox="1"/>
          <p:nvPr/>
        </p:nvSpPr>
        <p:spPr>
          <a:xfrm>
            <a:off x="7803642" y="422409"/>
            <a:ext cx="918329" cy="2769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entury Gothic" panose="020B0502020202020204" pitchFamily="34" charset="0"/>
              </a:rPr>
              <a:t>MAE: 0.87</a:t>
            </a:r>
          </a:p>
        </p:txBody>
      </p:sp>
    </p:spTree>
    <p:extLst>
      <p:ext uri="{BB962C8B-B14F-4D97-AF65-F5344CB8AC3E}">
        <p14:creationId xmlns:p14="http://schemas.microsoft.com/office/powerpoint/2010/main" val="849510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259D1EC8-EA89-D294-6F04-B2F1CC935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4311" y="1481491"/>
            <a:ext cx="8434507" cy="4217254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2198F46-FC70-E309-6072-F0999564D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64" y="1479178"/>
            <a:ext cx="5071808" cy="422650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DA990F-9355-E29A-1FF8-FF275E2CA09E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7935B-A81F-D67A-AFF2-615B30E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17</a:t>
            </a:fld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A8662B-FCA7-21C7-A621-1058109F8FD6}"/>
              </a:ext>
            </a:extLst>
          </p:cNvPr>
          <p:cNvSpPr txBox="1"/>
          <p:nvPr/>
        </p:nvSpPr>
        <p:spPr>
          <a:xfrm>
            <a:off x="505326" y="219942"/>
            <a:ext cx="672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Data </a:t>
            </a:r>
            <a:r>
              <a:rPr lang="pt-BR" sz="3600" dirty="0" err="1">
                <a:latin typeface="Century Gothic" panose="020B0502020202020204" pitchFamily="34" charset="0"/>
              </a:rPr>
              <a:t>Treatment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133258-B963-F3B1-1EA6-F13C15CE942F}"/>
              </a:ext>
            </a:extLst>
          </p:cNvPr>
          <p:cNvSpPr txBox="1"/>
          <p:nvPr/>
        </p:nvSpPr>
        <p:spPr>
          <a:xfrm>
            <a:off x="885825" y="866273"/>
            <a:ext cx="445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PCA +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Lag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Features:</a:t>
            </a:r>
          </a:p>
        </p:txBody>
      </p:sp>
    </p:spTree>
    <p:extLst>
      <p:ext uri="{BB962C8B-B14F-4D97-AF65-F5344CB8AC3E}">
        <p14:creationId xmlns:p14="http://schemas.microsoft.com/office/powerpoint/2010/main" val="576775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C8C29129-AF7C-7760-1D00-25B41F52C159}"/>
              </a:ext>
            </a:extLst>
          </p:cNvPr>
          <p:cNvSpPr/>
          <p:nvPr/>
        </p:nvSpPr>
        <p:spPr>
          <a:xfrm>
            <a:off x="885825" y="1298634"/>
            <a:ext cx="5674365" cy="3020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5" name="Gráfico 34">
            <a:extLst>
              <a:ext uri="{FF2B5EF4-FFF2-40B4-BE49-F238E27FC236}">
                <a16:creationId xmlns:a16="http://schemas.microsoft.com/office/drawing/2014/main" id="{A1FED951-DE6C-9209-D192-4795E0560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7888" y="1485123"/>
            <a:ext cx="8434507" cy="4217254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4F035FF2-DF06-8F2B-775F-468D27377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07" y="1465667"/>
            <a:ext cx="5091365" cy="424280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F1C61-7D1D-D307-DEBC-47CFA506BDCC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Model </a:t>
            </a:r>
            <a:r>
              <a:rPr lang="pt-BR" sz="3600" dirty="0" err="1">
                <a:latin typeface="Century Gothic" panose="020B0502020202020204" pitchFamily="34" charset="0"/>
              </a:rPr>
              <a:t>Results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655999-A501-FD4A-363D-C015187EACBD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50BBFD-8DD2-15BD-1BB6-E68E608AD2B0}"/>
              </a:ext>
            </a:extLst>
          </p:cNvPr>
          <p:cNvSpPr txBox="1"/>
          <p:nvPr/>
        </p:nvSpPr>
        <p:spPr>
          <a:xfrm>
            <a:off x="885825" y="866273"/>
            <a:ext cx="4071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Addition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of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lag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features: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224F178-50E4-B70B-9383-A6B2AB5D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18</a:t>
            </a:fld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B622B5B-D48B-0B12-F17D-A9FD468687D5}"/>
              </a:ext>
            </a:extLst>
          </p:cNvPr>
          <p:cNvSpPr txBox="1"/>
          <p:nvPr/>
        </p:nvSpPr>
        <p:spPr>
          <a:xfrm>
            <a:off x="885825" y="1298634"/>
            <a:ext cx="5741478" cy="302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nn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nn-N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n-N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nn-N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nn-NO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'lag-1’</a:t>
            </a:r>
            <a:r>
              <a:rPr lang="nn-N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..., </a:t>
            </a:r>
            <a:r>
              <a:rPr lang="nn-NO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'lag-9'</a:t>
            </a:r>
            <a:r>
              <a:rPr lang="nn-N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'% Silica Concentrate'</a:t>
            </a:r>
            <a:r>
              <a:rPr lang="nn-N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67FB6C-99A7-2A18-1DEF-75C3FDD62995}"/>
              </a:ext>
            </a:extLst>
          </p:cNvPr>
          <p:cNvSpPr txBox="1"/>
          <p:nvPr/>
        </p:nvSpPr>
        <p:spPr>
          <a:xfrm>
            <a:off x="5428308" y="2033001"/>
            <a:ext cx="1299664" cy="73866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Century Gothic" panose="020B0502020202020204" pitchFamily="34" charset="0"/>
              </a:rPr>
              <a:t>RMSE: </a:t>
            </a:r>
            <a:r>
              <a:rPr lang="pt-BR" sz="1400" dirty="0">
                <a:latin typeface="Century Gothic" panose="020B0502020202020204" pitchFamily="34" charset="0"/>
              </a:rPr>
              <a:t>0.74	</a:t>
            </a:r>
          </a:p>
          <a:p>
            <a:r>
              <a:rPr lang="pt-BR" sz="1400" b="1" dirty="0">
                <a:latin typeface="Century Gothic" panose="020B0502020202020204" pitchFamily="34" charset="0"/>
              </a:rPr>
              <a:t>MAE: </a:t>
            </a:r>
            <a:r>
              <a:rPr lang="pt-BR" sz="1400" dirty="0">
                <a:latin typeface="Century Gothic" panose="020B0502020202020204" pitchFamily="34" charset="0"/>
              </a:rPr>
              <a:t>0.52</a:t>
            </a:r>
          </a:p>
          <a:p>
            <a:r>
              <a:rPr lang="pt-BR" sz="1400" b="1" dirty="0">
                <a:latin typeface="Century Gothic" panose="020B0502020202020204" pitchFamily="34" charset="0"/>
              </a:rPr>
              <a:t>R2: </a:t>
            </a:r>
            <a:r>
              <a:rPr lang="pt-BR" sz="1400" dirty="0">
                <a:latin typeface="Century Gothic" panose="020B0502020202020204" pitchFamily="34" charset="0"/>
              </a:rPr>
              <a:t>0.62</a:t>
            </a:r>
          </a:p>
        </p:txBody>
      </p:sp>
    </p:spTree>
    <p:extLst>
      <p:ext uri="{BB962C8B-B14F-4D97-AF65-F5344CB8AC3E}">
        <p14:creationId xmlns:p14="http://schemas.microsoft.com/office/powerpoint/2010/main" val="803800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1F0F3BAD-3A77-DC4D-43E6-E13288548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1143000"/>
            <a:ext cx="9144000" cy="45720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7E30662-A3A5-E549-A1CD-BD3F25501467}"/>
              </a:ext>
            </a:extLst>
          </p:cNvPr>
          <p:cNvSpPr/>
          <p:nvPr/>
        </p:nvSpPr>
        <p:spPr>
          <a:xfrm>
            <a:off x="2667699" y="3569632"/>
            <a:ext cx="7097086" cy="763398"/>
          </a:xfrm>
          <a:prstGeom prst="rect">
            <a:avLst/>
          </a:prstGeom>
          <a:solidFill>
            <a:srgbClr val="B227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2E2EA88-87B8-3A1E-5AF1-798F5FD076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F1C61-7D1D-D307-DEBC-47CFA506BDCC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Results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655999-A501-FD4A-363D-C015187EACBD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50BBFD-8DD2-15BD-1BB6-E68E608AD2B0}"/>
              </a:ext>
            </a:extLst>
          </p:cNvPr>
          <p:cNvSpPr txBox="1"/>
          <p:nvPr/>
        </p:nvSpPr>
        <p:spPr>
          <a:xfrm>
            <a:off x="885825" y="866273"/>
            <a:ext cx="4071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Predicting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BR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the</a:t>
            </a:r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future: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224F178-50E4-B70B-9383-A6B2AB5D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19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038F09-B6C0-F2D8-323F-82CE6850CCBF}"/>
              </a:ext>
            </a:extLst>
          </p:cNvPr>
          <p:cNvSpPr txBox="1"/>
          <p:nvPr/>
        </p:nvSpPr>
        <p:spPr>
          <a:xfrm>
            <a:off x="9762003" y="3809999"/>
            <a:ext cx="782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bias</a:t>
            </a:r>
          </a:p>
        </p:txBody>
      </p:sp>
    </p:spTree>
    <p:extLst>
      <p:ext uri="{BB962C8B-B14F-4D97-AF65-F5344CB8AC3E}">
        <p14:creationId xmlns:p14="http://schemas.microsoft.com/office/powerpoint/2010/main" val="2537003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Agenda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012AD0-5B39-5599-DAF1-A357C58991EE}"/>
              </a:ext>
            </a:extLst>
          </p:cNvPr>
          <p:cNvSpPr txBox="1"/>
          <p:nvPr/>
        </p:nvSpPr>
        <p:spPr>
          <a:xfrm>
            <a:off x="786388" y="1735375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01 </a:t>
            </a:r>
            <a:r>
              <a:rPr lang="pt-BR" dirty="0" err="1"/>
              <a:t>Introduction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6DE4DB-C2AE-1E84-6505-4C9FA00E10D9}"/>
              </a:ext>
            </a:extLst>
          </p:cNvPr>
          <p:cNvSpPr/>
          <p:nvPr/>
        </p:nvSpPr>
        <p:spPr>
          <a:xfrm>
            <a:off x="0" y="210470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9ED4B2-76FA-BFEF-2875-742F449B2822}"/>
              </a:ext>
            </a:extLst>
          </p:cNvPr>
          <p:cNvSpPr txBox="1"/>
          <p:nvPr/>
        </p:nvSpPr>
        <p:spPr>
          <a:xfrm>
            <a:off x="786388" y="2509706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02 </a:t>
            </a:r>
            <a:r>
              <a:rPr lang="pt-BR" dirty="0" err="1"/>
              <a:t>Literature</a:t>
            </a:r>
            <a:r>
              <a:rPr lang="pt-BR" dirty="0"/>
              <a:t> Review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9A752D-18AA-AB5D-274D-A064C6D55636}"/>
              </a:ext>
            </a:extLst>
          </p:cNvPr>
          <p:cNvSpPr txBox="1"/>
          <p:nvPr/>
        </p:nvSpPr>
        <p:spPr>
          <a:xfrm>
            <a:off x="786388" y="3284037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03 </a:t>
            </a:r>
            <a:r>
              <a:rPr lang="pt-BR" dirty="0" err="1"/>
              <a:t>Exploratory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BC8A3F-1097-AC17-36F2-2902AE9886AE}"/>
              </a:ext>
            </a:extLst>
          </p:cNvPr>
          <p:cNvSpPr txBox="1"/>
          <p:nvPr/>
        </p:nvSpPr>
        <p:spPr>
          <a:xfrm>
            <a:off x="786388" y="4058368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04 </a:t>
            </a:r>
            <a:r>
              <a:rPr lang="pt-BR" dirty="0" err="1"/>
              <a:t>Results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6F9C2C-CF5C-7F58-34BA-12DBCB49AEC8}"/>
              </a:ext>
            </a:extLst>
          </p:cNvPr>
          <p:cNvSpPr/>
          <p:nvPr/>
        </p:nvSpPr>
        <p:spPr>
          <a:xfrm>
            <a:off x="0" y="2882371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5EFA8B4-D3E5-1A64-FF89-B3B354F17B0D}"/>
              </a:ext>
            </a:extLst>
          </p:cNvPr>
          <p:cNvSpPr/>
          <p:nvPr/>
        </p:nvSpPr>
        <p:spPr>
          <a:xfrm>
            <a:off x="0" y="3660036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FFEE37-9BFE-3A8A-6E98-B41475AC1300}"/>
              </a:ext>
            </a:extLst>
          </p:cNvPr>
          <p:cNvSpPr/>
          <p:nvPr/>
        </p:nvSpPr>
        <p:spPr>
          <a:xfrm>
            <a:off x="0" y="4458742"/>
            <a:ext cx="2133600" cy="36000"/>
          </a:xfrm>
          <a:prstGeom prst="rect">
            <a:avLst/>
          </a:prstGeom>
          <a:solidFill>
            <a:srgbClr val="B2275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0046D-9C92-4C70-C6D1-63791C0D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20</a:t>
            </a:fld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C8E5675-BC22-D261-5A9A-17B21A984F28}"/>
              </a:ext>
            </a:extLst>
          </p:cNvPr>
          <p:cNvSpPr/>
          <p:nvPr/>
        </p:nvSpPr>
        <p:spPr>
          <a:xfrm>
            <a:off x="0" y="5261636"/>
            <a:ext cx="2133600" cy="36000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597374C-B473-C75C-3225-8408F6875CD4}"/>
              </a:ext>
            </a:extLst>
          </p:cNvPr>
          <p:cNvSpPr txBox="1"/>
          <p:nvPr/>
        </p:nvSpPr>
        <p:spPr>
          <a:xfrm>
            <a:off x="786388" y="4835732"/>
            <a:ext cx="373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pt-BR" dirty="0"/>
              <a:t>05 Next Steps</a:t>
            </a:r>
          </a:p>
        </p:txBody>
      </p:sp>
    </p:spTree>
    <p:extLst>
      <p:ext uri="{BB962C8B-B14F-4D97-AF65-F5344CB8AC3E}">
        <p14:creationId xmlns:p14="http://schemas.microsoft.com/office/powerpoint/2010/main" val="891386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612135-CC96-1138-014C-2DD5CE822F13}"/>
              </a:ext>
            </a:extLst>
          </p:cNvPr>
          <p:cNvSpPr txBox="1"/>
          <p:nvPr/>
        </p:nvSpPr>
        <p:spPr>
          <a:xfrm>
            <a:off x="304800" y="1409700"/>
            <a:ext cx="108870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Hyperparameter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tuning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– grid Search;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Deeper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feature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engineering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Moving 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statistics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(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max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, min,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std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...);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Test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other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models (MLP, GRU,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SVMs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...);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Deeper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literature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survey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find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best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practices</a:t>
            </a:r>
            <a:r>
              <a:rPr lang="pt-BR" dirty="0">
                <a:latin typeface="Century Gothic" panose="020B0502020202020204" pitchFamily="34" charset="0"/>
                <a:cs typeface="Times New Roman" panose="02020603050405020304" pitchFamily="18" charset="0"/>
              </a:rPr>
              <a:t>, insights...;</a:t>
            </a:r>
          </a:p>
          <a:p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32457A-68D8-A9D6-1EDA-FDABF9A420CD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B00E6C-7845-CE41-E9F8-2670F79CCF7C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Century Gothic" panose="020B0502020202020204" pitchFamily="34" charset="0"/>
              </a:rPr>
              <a:t>Next Steps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C49F33-8C74-95BA-1AAF-EA7CFACC6CD5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D03DF8-1413-D25C-3037-9537112D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459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612135-CC96-1138-014C-2DD5CE822F13}"/>
              </a:ext>
            </a:extLst>
          </p:cNvPr>
          <p:cNvSpPr txBox="1"/>
          <p:nvPr/>
        </p:nvSpPr>
        <p:spPr>
          <a:xfrm>
            <a:off x="375920" y="1512604"/>
            <a:ext cx="112674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400" dirty="0"/>
              <a:t>CHEN, Jiaqi, et al. Time-Series Prediction of Silicon Content in Froth Flotation Based on MI-PCA and Improved LSTM. In: 2025 44th Chinese Control Conference (CCC). IEEE, 2025. p. 1279-1284.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/>
              <a:t>PURAL, Yusuf Enes. Developing a data-driven soft sensor to predict silicate impurity in iron ore flotation concentrate. Physicochemical Problems of Mineral Processing, 2023, 59.5.</a:t>
            </a:r>
            <a:endParaRPr lang="pt-BR" sz="1400" dirty="0"/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/>
              <a:t>MONTANARES, Mauricio, et al. </a:t>
            </a:r>
            <a:r>
              <a:rPr lang="pt-BR" sz="1400" dirty="0" err="1"/>
              <a:t>Assessing</a:t>
            </a:r>
            <a:r>
              <a:rPr lang="pt-BR" sz="1400" dirty="0"/>
              <a:t> machine learning-</a:t>
            </a:r>
            <a:r>
              <a:rPr lang="pt-BR" sz="1400" dirty="0" err="1"/>
              <a:t>based</a:t>
            </a:r>
            <a:r>
              <a:rPr lang="pt-BR" sz="1400" dirty="0"/>
              <a:t> approaches for </a:t>
            </a:r>
            <a:r>
              <a:rPr lang="pt-BR" sz="1400" dirty="0" err="1"/>
              <a:t>silica</a:t>
            </a:r>
            <a:r>
              <a:rPr lang="pt-BR" sz="1400" dirty="0"/>
              <a:t> </a:t>
            </a:r>
            <a:r>
              <a:rPr lang="pt-BR" sz="1400" dirty="0" err="1"/>
              <a:t>concentration</a:t>
            </a:r>
            <a:r>
              <a:rPr lang="pt-BR" sz="1400" dirty="0"/>
              <a:t> </a:t>
            </a:r>
            <a:r>
              <a:rPr lang="pt-BR" sz="1400" dirty="0" err="1"/>
              <a:t>estimation</a:t>
            </a:r>
            <a:r>
              <a:rPr lang="pt-BR" sz="1400" dirty="0"/>
              <a:t> in iron </a:t>
            </a:r>
            <a:r>
              <a:rPr lang="pt-BR" sz="1400" dirty="0" err="1"/>
              <a:t>froth</a:t>
            </a:r>
            <a:r>
              <a:rPr lang="pt-BR" sz="1400" dirty="0"/>
              <a:t> </a:t>
            </a:r>
            <a:r>
              <a:rPr lang="pt-BR" sz="1400" dirty="0" err="1"/>
              <a:t>flotation</a:t>
            </a:r>
            <a:r>
              <a:rPr lang="pt-BR" sz="1400" dirty="0"/>
              <a:t>. In: </a:t>
            </a:r>
            <a:r>
              <a:rPr lang="pt-BR" sz="1400" i="1" dirty="0"/>
              <a:t>2021 IEEE </a:t>
            </a:r>
            <a:r>
              <a:rPr lang="pt-BR" sz="1400" i="1" dirty="0" err="1"/>
              <a:t>International</a:t>
            </a:r>
            <a:r>
              <a:rPr lang="pt-BR" sz="1400" i="1" dirty="0"/>
              <a:t> </a:t>
            </a:r>
            <a:r>
              <a:rPr lang="pt-BR" sz="1400" i="1" dirty="0" err="1"/>
              <a:t>Conference</a:t>
            </a:r>
            <a:r>
              <a:rPr lang="pt-BR" sz="1400" i="1" dirty="0"/>
              <a:t> </a:t>
            </a:r>
            <a:r>
              <a:rPr lang="pt-BR" sz="1400" i="1" dirty="0" err="1"/>
              <a:t>on</a:t>
            </a:r>
            <a:r>
              <a:rPr lang="pt-BR" sz="1400" i="1" dirty="0"/>
              <a:t> Automation/XXIV Congress </a:t>
            </a:r>
            <a:r>
              <a:rPr lang="pt-BR" sz="1400" i="1" dirty="0" err="1"/>
              <a:t>of</a:t>
            </a:r>
            <a:r>
              <a:rPr lang="pt-BR" sz="1400" i="1" dirty="0"/>
              <a:t> </a:t>
            </a:r>
            <a:r>
              <a:rPr lang="pt-BR" sz="1400" i="1" dirty="0" err="1"/>
              <a:t>the</a:t>
            </a:r>
            <a:r>
              <a:rPr lang="pt-BR" sz="1400" i="1" dirty="0"/>
              <a:t> </a:t>
            </a:r>
            <a:r>
              <a:rPr lang="pt-BR" sz="1400" i="1" dirty="0" err="1"/>
              <a:t>Chilean</a:t>
            </a:r>
            <a:r>
              <a:rPr lang="pt-BR" sz="1400" i="1" dirty="0"/>
              <a:t> </a:t>
            </a:r>
            <a:r>
              <a:rPr lang="pt-BR" sz="1400" i="1" dirty="0" err="1"/>
              <a:t>Association</a:t>
            </a:r>
            <a:r>
              <a:rPr lang="pt-BR" sz="1400" i="1" dirty="0"/>
              <a:t> </a:t>
            </a:r>
            <a:r>
              <a:rPr lang="pt-BR" sz="1400" i="1" dirty="0" err="1"/>
              <a:t>of</a:t>
            </a:r>
            <a:r>
              <a:rPr lang="pt-BR" sz="1400" i="1" dirty="0"/>
              <a:t> </a:t>
            </a:r>
            <a:r>
              <a:rPr lang="pt-BR" sz="1400" i="1" dirty="0" err="1"/>
              <a:t>Automatic</a:t>
            </a:r>
            <a:r>
              <a:rPr lang="pt-BR" sz="1400" i="1" dirty="0"/>
              <a:t> </a:t>
            </a:r>
            <a:r>
              <a:rPr lang="pt-BR" sz="1400" i="1" dirty="0" err="1"/>
              <a:t>Control</a:t>
            </a:r>
            <a:r>
              <a:rPr lang="pt-BR" sz="1400" i="1" dirty="0"/>
              <a:t> (ICA-ACCA)</a:t>
            </a:r>
            <a:r>
              <a:rPr lang="pt-BR" sz="1400" dirty="0"/>
              <a:t>. IEEE, 2021. p. 1-6.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/>
              <a:t>HARSHA, Sanda Sri; PRASAD, K. </a:t>
            </a:r>
            <a:r>
              <a:rPr lang="pt-BR" sz="1400" dirty="0" err="1"/>
              <a:t>Venkata</a:t>
            </a:r>
            <a:r>
              <a:rPr lang="pt-BR" sz="1400" dirty="0"/>
              <a:t>; RAGHUVEER, </a:t>
            </a:r>
            <a:r>
              <a:rPr lang="pt-BR" sz="1400" dirty="0" err="1"/>
              <a:t>Katragadda</a:t>
            </a:r>
            <a:r>
              <a:rPr lang="pt-BR" sz="1400" dirty="0"/>
              <a:t>. </a:t>
            </a:r>
            <a:r>
              <a:rPr lang="pt-BR" sz="1400" dirty="0" err="1"/>
              <a:t>Prediction</a:t>
            </a:r>
            <a:r>
              <a:rPr lang="pt-BR" sz="1400" dirty="0"/>
              <a:t>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Silica</a:t>
            </a:r>
            <a:r>
              <a:rPr lang="pt-BR" sz="1400" dirty="0"/>
              <a:t> </a:t>
            </a:r>
            <a:r>
              <a:rPr lang="pt-BR" sz="1400" dirty="0" err="1"/>
              <a:t>Impurity</a:t>
            </a:r>
            <a:r>
              <a:rPr lang="pt-BR" sz="1400" dirty="0"/>
              <a:t> </a:t>
            </a:r>
            <a:r>
              <a:rPr lang="pt-BR" sz="1400" dirty="0" err="1"/>
              <a:t>Using</a:t>
            </a:r>
            <a:r>
              <a:rPr lang="pt-BR" sz="1400" dirty="0"/>
              <a:t> </a:t>
            </a:r>
            <a:r>
              <a:rPr lang="pt-BR" sz="1400" dirty="0" err="1"/>
              <a:t>Deep</a:t>
            </a:r>
            <a:r>
              <a:rPr lang="pt-BR" sz="1400" dirty="0"/>
              <a:t> Learning </a:t>
            </a:r>
            <a:r>
              <a:rPr lang="pt-BR" sz="1400" dirty="0" err="1"/>
              <a:t>Techniques</a:t>
            </a:r>
            <a:r>
              <a:rPr lang="pt-BR" sz="1400" dirty="0"/>
              <a:t> for Mining </a:t>
            </a:r>
            <a:r>
              <a:rPr lang="pt-BR" sz="1400" dirty="0" err="1"/>
              <a:t>Environment</a:t>
            </a:r>
            <a:r>
              <a:rPr lang="pt-BR" sz="1400" dirty="0"/>
              <a:t>. REVISTA GEINTEC-GESTAO INOVACAO E TECNOLOGIAS, 2021, 11.3: 506-517.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/>
              <a:t>NAGARJUNA, P.; ANANTHAN, T. Machine Learning Based Estimation of Silicon Concentration in Froth Flotation Process. In: 2022 IEEE 3rd Global Conference for Advancement in Technology (GCAT). IEEE, 2022. p. 1-6.</a:t>
            </a:r>
            <a:endParaRPr lang="pt-BR" sz="1400" dirty="0"/>
          </a:p>
          <a:p>
            <a:pPr marL="342900" indent="-342900" algn="just">
              <a:buFont typeface="+mj-lt"/>
              <a:buAutoNum type="arabicPeriod"/>
            </a:pPr>
            <a:endParaRPr lang="pt-BR" sz="1400" dirty="0"/>
          </a:p>
          <a:p>
            <a:pPr marL="342900" indent="-342900" algn="just">
              <a:buFont typeface="+mj-lt"/>
              <a:buAutoNum type="arabicPeriod"/>
            </a:pPr>
            <a:endParaRPr lang="pt-BR" sz="1400" dirty="0"/>
          </a:p>
          <a:p>
            <a:pPr marL="342900" indent="-342900" algn="just">
              <a:buFont typeface="+mj-lt"/>
              <a:buAutoNum type="arabicPeriod"/>
            </a:pPr>
            <a:endParaRPr lang="pt-BR" sz="1400" dirty="0"/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/>
              <a:t>https://www.youtube.com/watch?v=oY-j2Wof51c</a:t>
            </a:r>
            <a:endParaRPr lang="pt-BR" sz="1400" dirty="0">
              <a:hlinkClick r:id="rId2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hlinkClick r:id="rId2"/>
              </a:rPr>
              <a:t>https://www.youtube.com/watch?v=z3ZnOW-S550&amp;t=974s</a:t>
            </a:r>
            <a:r>
              <a:rPr lang="pt-BR" sz="1400" dirty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hlinkClick r:id="rId3"/>
              </a:rPr>
              <a:t>https://www.youtube.com/watch?v=S8tpSG6Q2H0</a:t>
            </a:r>
            <a:endParaRPr lang="pt-BR" sz="14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32457A-68D8-A9D6-1EDA-FDABF9A420CD}"/>
              </a:ext>
            </a:extLst>
          </p:cNvPr>
          <p:cNvSpPr/>
          <p:nvPr/>
        </p:nvSpPr>
        <p:spPr>
          <a:xfrm>
            <a:off x="0" y="866273"/>
            <a:ext cx="4957011" cy="36000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B00E6C-7845-CE41-E9F8-2670F79CCF7C}"/>
              </a:ext>
            </a:extLst>
          </p:cNvPr>
          <p:cNvSpPr txBox="1"/>
          <p:nvPr/>
        </p:nvSpPr>
        <p:spPr>
          <a:xfrm>
            <a:off x="505326" y="219942"/>
            <a:ext cx="445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Century Gothic" panose="020B0502020202020204" pitchFamily="34" charset="0"/>
              </a:rPr>
              <a:t>References</a:t>
            </a:r>
            <a:endParaRPr lang="pt-BR" sz="3600" dirty="0">
              <a:latin typeface="Century Gothic" panose="020B0502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C49F33-8C74-95BA-1AAF-EA7CFACC6CD5}"/>
              </a:ext>
            </a:extLst>
          </p:cNvPr>
          <p:cNvSpPr/>
          <p:nvPr/>
        </p:nvSpPr>
        <p:spPr>
          <a:xfrm>
            <a:off x="0" y="6753726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57EB6-3D77-0B22-0971-77803106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7A48-E00E-428D-BFD4-5F1E9D8E4EB0}" type="slidenum">
              <a:rPr lang="pt-BR" smtClean="0"/>
              <a:t>22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5C24F6C-4E73-AD63-07C2-ECB08B851882}"/>
              </a:ext>
            </a:extLst>
          </p:cNvPr>
          <p:cNvSpPr txBox="1"/>
          <p:nvPr/>
        </p:nvSpPr>
        <p:spPr>
          <a:xfrm>
            <a:off x="353728" y="1148494"/>
            <a:ext cx="4249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i="0" dirty="0"/>
              <a:t>Papers: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8A5A19-D260-5937-EE6F-9FE081C58A65}"/>
              </a:ext>
            </a:extLst>
          </p:cNvPr>
          <p:cNvSpPr txBox="1"/>
          <p:nvPr/>
        </p:nvSpPr>
        <p:spPr>
          <a:xfrm>
            <a:off x="375920" y="4143975"/>
            <a:ext cx="4249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i="0" dirty="0" err="1"/>
              <a:t>Videos</a:t>
            </a:r>
            <a:r>
              <a:rPr lang="pt-BR" i="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57618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7ADBA1-2757-BB14-02C5-EB0A9BA6C993}"/>
              </a:ext>
            </a:extLst>
          </p:cNvPr>
          <p:cNvSpPr/>
          <p:nvPr/>
        </p:nvSpPr>
        <p:spPr>
          <a:xfrm>
            <a:off x="0" y="2302042"/>
            <a:ext cx="12192000" cy="4555958"/>
          </a:xfrm>
          <a:prstGeom prst="rect">
            <a:avLst/>
          </a:prstGeom>
          <a:solidFill>
            <a:srgbClr val="0B17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1440AD-E72A-46E7-6EE1-3AD9CD78BDF0}"/>
              </a:ext>
            </a:extLst>
          </p:cNvPr>
          <p:cNvSpPr/>
          <p:nvPr/>
        </p:nvSpPr>
        <p:spPr>
          <a:xfrm>
            <a:off x="0" y="0"/>
            <a:ext cx="12192000" cy="104274"/>
          </a:xfrm>
          <a:prstGeom prst="rect">
            <a:avLst/>
          </a:prstGeom>
          <a:solidFill>
            <a:srgbClr val="B227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399F32-F56D-3116-91A1-20234FB8185B}"/>
              </a:ext>
            </a:extLst>
          </p:cNvPr>
          <p:cNvSpPr txBox="1"/>
          <p:nvPr/>
        </p:nvSpPr>
        <p:spPr>
          <a:xfrm>
            <a:off x="9537031" y="3581400"/>
            <a:ext cx="26549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Thanks</a:t>
            </a:r>
            <a:r>
              <a:rPr lang="pt-BR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48742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896</Words>
  <Application>Microsoft Office PowerPoint</Application>
  <PresentationFormat>Widescreen</PresentationFormat>
  <Paragraphs>186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Century Gothic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Magro</dc:creator>
  <cp:lastModifiedBy>Paulo Magro</cp:lastModifiedBy>
  <cp:revision>26</cp:revision>
  <dcterms:created xsi:type="dcterms:W3CDTF">2025-12-19T18:36:50Z</dcterms:created>
  <dcterms:modified xsi:type="dcterms:W3CDTF">2026-01-04T17:56:02Z</dcterms:modified>
</cp:coreProperties>
</file>